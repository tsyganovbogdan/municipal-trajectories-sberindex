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slides/charts/chart1.xml" ContentType="application/vnd.openxmlformats-officedocument.drawingml.chart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slides/charts/chart2.xml" ContentType="application/vnd.openxmlformats-officedocument.drawingml.chart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slides/charts/chart3.xml" ContentType="application/vnd.openxmlformats-officedocument.drawingml.chart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slides/charts/chart4.xml" ContentType="application/vnd.openxmlformats-officedocument.drawingml.chart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slides/charts/chart5.xml" ContentType="application/vnd.openxmlformats-officedocument.drawingml.chart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159837bc9bc4202" /><Relationship Type="http://schemas.openxmlformats.org/officeDocument/2006/relationships/extended-properties" Target="/docProps/app.xml" Id="R97c6000d0d4f4d36" /><Relationship Type="http://schemas.openxmlformats.org/officeDocument/2006/relationships/officeDocument" Target="/ppt/presentation.xml" Id="Rf34c52570e1f47b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ed32f20c50949f3"/>
  </p:sldMasterIdLst>
  <p:notesMasterIdLst>
    <p:notesMasterId xmlns:r="http://schemas.openxmlformats.org/officeDocument/2006/relationships" r:id="R4617e0f740274154"/>
  </p:notesMasterIdLst>
  <p:sldIdLst>
    <p:sldId xmlns:r="http://schemas.openxmlformats.org/officeDocument/2006/relationships" id="256" r:id="Rea99ec8b6e374b22"/>
    <p:sldId xmlns:r="http://schemas.openxmlformats.org/officeDocument/2006/relationships" id="257" r:id="R30a244bad65e4304"/>
    <p:sldId xmlns:r="http://schemas.openxmlformats.org/officeDocument/2006/relationships" id="258" r:id="R44acc4e755e547eb"/>
    <p:sldId xmlns:r="http://schemas.openxmlformats.org/officeDocument/2006/relationships" id="259" r:id="Rdf648511613a4f87"/>
    <p:sldId xmlns:r="http://schemas.openxmlformats.org/officeDocument/2006/relationships" id="260" r:id="Rdc731e8b914a40b5"/>
    <p:sldId xmlns:r="http://schemas.openxmlformats.org/officeDocument/2006/relationships" id="261" r:id="R4c1de333ac464189"/>
    <p:sldId xmlns:r="http://schemas.openxmlformats.org/officeDocument/2006/relationships" id="262" r:id="R3a2ee0f6b16f40b8"/>
    <p:sldId xmlns:r="http://schemas.openxmlformats.org/officeDocument/2006/relationships" id="263" r:id="R86e5423698f3429a"/>
    <p:sldId xmlns:r="http://schemas.openxmlformats.org/officeDocument/2006/relationships" id="264" r:id="R54f7d130fed948f0"/>
    <p:sldId xmlns:r="http://schemas.openxmlformats.org/officeDocument/2006/relationships" id="265" r:id="R1c5b89ad80a54120"/>
    <p:sldId xmlns:r="http://schemas.openxmlformats.org/officeDocument/2006/relationships" id="266" r:id="R22573b4dca354cdf"/>
    <p:sldId xmlns:r="http://schemas.openxmlformats.org/officeDocument/2006/relationships" id="267" r:id="R1833f98a3cf845b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5fc6d73cdd94888" /><Relationship Type="http://schemas.openxmlformats.org/officeDocument/2006/relationships/slideMaster" Target="/ppt/slideMasters/slideMaster1.xml" Id="Reed32f20c50949f3" /><Relationship Type="http://schemas.openxmlformats.org/officeDocument/2006/relationships/notesMaster" Target="/ppt/notesMasters/notesMaster1.xml" Id="R4617e0f740274154" /><Relationship Type="http://schemas.openxmlformats.org/officeDocument/2006/relationships/presProps" Target="/ppt/presProps.xml" Id="R2781ff3c15b549f2" /><Relationship Type="http://schemas.openxmlformats.org/officeDocument/2006/relationships/tableStyles" Target="/ppt/tableStyles.xml" Id="Ra9aaf3b6274f482d" /><Relationship Type="http://schemas.openxmlformats.org/officeDocument/2006/relationships/slide" Target="/ppt/slides/slide1.xml" Id="Rea99ec8b6e374b22" /><Relationship Type="http://schemas.openxmlformats.org/officeDocument/2006/relationships/slide" Target="/ppt/slides/slide2.xml" Id="R30a244bad65e4304" /><Relationship Type="http://schemas.openxmlformats.org/officeDocument/2006/relationships/slide" Target="/ppt/slides/slide3.xml" Id="R44acc4e755e547eb" /><Relationship Type="http://schemas.openxmlformats.org/officeDocument/2006/relationships/slide" Target="/ppt/slides/slide4.xml" Id="Rdf648511613a4f87" /><Relationship Type="http://schemas.openxmlformats.org/officeDocument/2006/relationships/slide" Target="/ppt/slides/slide5.xml" Id="Rdc731e8b914a40b5" /><Relationship Type="http://schemas.openxmlformats.org/officeDocument/2006/relationships/slide" Target="/ppt/slides/slide6.xml" Id="R4c1de333ac464189" /><Relationship Type="http://schemas.openxmlformats.org/officeDocument/2006/relationships/slide" Target="/ppt/slides/slide7.xml" Id="R3a2ee0f6b16f40b8" /><Relationship Type="http://schemas.openxmlformats.org/officeDocument/2006/relationships/slide" Target="/ppt/slides/slide8.xml" Id="R86e5423698f3429a" /><Relationship Type="http://schemas.openxmlformats.org/officeDocument/2006/relationships/slide" Target="/ppt/slides/slide9.xml" Id="R54f7d130fed948f0" /><Relationship Type="http://schemas.openxmlformats.org/officeDocument/2006/relationships/slide" Target="/ppt/slides/slide10.xml" Id="R1c5b89ad80a54120" /><Relationship Type="http://schemas.openxmlformats.org/officeDocument/2006/relationships/slide" Target="/ppt/slides/slide11.xml" Id="R22573b4dca354cdf" /><Relationship Type="http://schemas.openxmlformats.org/officeDocument/2006/relationships/slide" Target="/ppt/slides/slide12.xml" Id="R1833f98a3cf845b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162d8fd7c4646c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992fd451b9b4b50" /><Relationship Type="http://schemas.openxmlformats.org/officeDocument/2006/relationships/notesMaster" Target="/ppt/notesMasters/notesMaster1.xml" Id="Red167a2b1ed9496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9f70393762547b4" /><Relationship Type="http://schemas.openxmlformats.org/officeDocument/2006/relationships/notesMaster" Target="/ppt/notesMasters/notesMaster1.xml" Id="Rbda13025789e48d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102f7d4f1004a17" /><Relationship Type="http://schemas.openxmlformats.org/officeDocument/2006/relationships/notesMaster" Target="/ppt/notesMasters/notesMaster1.xml" Id="R26d58e1bfcd747f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310f5cd16e74d2d" /><Relationship Type="http://schemas.openxmlformats.org/officeDocument/2006/relationships/notesMaster" Target="/ppt/notesMasters/notesMaster1.xml" Id="R0366724095704b3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ef30ad12ac1495d" /><Relationship Type="http://schemas.openxmlformats.org/officeDocument/2006/relationships/notesMaster" Target="/ppt/notesMasters/notesMaster1.xml" Id="Rf9fe706a3d9e417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f6b70bebad34e4b" /><Relationship Type="http://schemas.openxmlformats.org/officeDocument/2006/relationships/notesMaster" Target="/ppt/notesMasters/notesMaster1.xml" Id="R6629633aa334456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a133510e1714182" /><Relationship Type="http://schemas.openxmlformats.org/officeDocument/2006/relationships/notesMaster" Target="/ppt/notesMasters/notesMaster1.xml" Id="Ra6065281259140f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0a1dbbbb59f4cd4" /><Relationship Type="http://schemas.openxmlformats.org/officeDocument/2006/relationships/notesMaster" Target="/ppt/notesMasters/notesMaster1.xml" Id="Rd65565c05b114c75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5a1d8d6a4f524bba" /><Relationship Type="http://schemas.openxmlformats.org/officeDocument/2006/relationships/notesMaster" Target="/ppt/notesMasters/notesMaster1.xml" Id="R07d6aa70d60c4ae9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691967028735479a" /><Relationship Type="http://schemas.openxmlformats.org/officeDocument/2006/relationships/notesMaster" Target="/ppt/notesMasters/notesMaster1.xml" Id="R9daadada82034d3a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c65f826c3eb644ff" /><Relationship Type="http://schemas.openxmlformats.org/officeDocument/2006/relationships/notesMaster" Target="/ppt/notesMasters/notesMaster1.xml" Id="Rbe14e001f81a4e06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8a50072617bc4eac" /><Relationship Type="http://schemas.openxmlformats.org/officeDocument/2006/relationships/notesMaster" Target="/ppt/notesMasters/notesMaster1.xml" Id="Rb5052ddeecf0434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Источник: официальный муниципальный набор СберИндекса, data/raw. Методология: reports/Report_RU.md.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Источник: СберИндекс, consumption.parquet; results/data_audit.json. Значения являются модельной оценкой средних безналичных расходов жителей.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Признаки: src/pipeline.py, build_features. Сеть: knn_graph. Leiden: Traag et al. 2019, https://doi.org/10.1038/s41598-019-41695-z 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results/selection_summary.csv; configs/default.json. AVI/AVU: https://doi.org/10.1134/S1064562425700589 , формулы 18-21, весовая адаптация.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results/selection_summary.csv и monthly_quality.csv. Индексы на декабре 2024. Оценка выбора: KMeans_6 0.784, Leiden_combined_k40_r0.4 0.724. При сопоставлении метрик учитывается различие числа групп.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results/cluster_profiles.csv. Приведены медианы индивидуальных долей за декабрь 2024. Их сумма может отличаться от 100%.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results/cluster_profiles.csv и stability.csv. Медианный ARI сентября 0.361, минимум 0.228. Причины массовой перегруппировки требуют проверки по внешним данным.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results/transition_events.csv. Последовательные фильтры: 2653,1337,205,49. Порог поддержки .8 требует 8 из 9 совпадений. Проверка ретроспективная, декабрь не подтверждается.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results/memberships.csv и transition_events.csv. ID191: Юстинский район, Республика Калмыкия по вторичному справочнику YuliyaTorgasheva/spo_map. Название требует независимой сверки.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results/edge_distance_summary.json. Знаменатель 60708 рёбер с конечным известным дорожным расстоянием из 61259 экономических рёбер. Дорожные данные на 31.12.2024.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results/external_validation_summary.json. eta² для log1p(market_access) .3192 на 2004 территориях. Медианы по C0/C1/C2 318.2/294.7/515.9. Перестановки не учитывают пространственную зависимость.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README.md, site/index.html, results/reproduction_check.json, tests/test_core.py. Два запуска в одной среде совпали по 9 CSV и 7 массивам.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3f3f365bb0648f4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9c67496cfc8486e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c18e3f5e16d4c6e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e11676b7a69469b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22b43b10f9b4bbd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fc7f640f36c4c1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Accent rule">
            <a:extLst xmlns:a="http://schemas.openxmlformats.org/drawingml/2006/main">
              <a:ext uri="{FF2B5EF4-FFF2-40B4-BE49-F238E27FC236}">
                <a16:creationId xmlns:a16="http://schemas.microsoft.com/office/drawing/2014/main" id="{F4111F59-DA02-48A7-B5FC-22349C35D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2098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F47213CF-5964-4825-B728-E4BE60ED24B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AF97D10A-8938-4027-ABD6-F9D68164895E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Accent rule">
            <a:extLst xmlns:a="http://schemas.openxmlformats.org/drawingml/2006/main">
              <a:ext uri="{FF2B5EF4-FFF2-40B4-BE49-F238E27FC236}">
                <a16:creationId xmlns:a16="http://schemas.microsoft.com/office/drawing/2014/main" id="{9C41953C-23EF-4C25-899D-C07C06AE3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4765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95B82E72-53A7-48F7-A13A-89DACBEADCB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Accent rule">
            <a:extLst xmlns:a="http://schemas.openxmlformats.org/drawingml/2006/main">
              <a:ext uri="{FF2B5EF4-FFF2-40B4-BE49-F238E27FC236}">
                <a16:creationId xmlns:a16="http://schemas.microsoft.com/office/drawing/2014/main" id="{D88CF530-34CD-4D7E-8859-62EFE93B7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FC6D6BFC-8636-4444-9548-BE15E678CF9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Body">
            <a:extLst xmlns:a="http://schemas.openxmlformats.org/drawingml/2006/main">
              <a:ext uri="{FF2B5EF4-FFF2-40B4-BE49-F238E27FC236}">
                <a16:creationId xmlns:a16="http://schemas.microsoft.com/office/drawing/2014/main" id="{3C9E3BC3-07A7-49D2-9C3C-38A411FA195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Accent rule">
            <a:extLst xmlns:a="http://schemas.openxmlformats.org/drawingml/2006/main">
              <a:ext uri="{FF2B5EF4-FFF2-40B4-BE49-F238E27FC236}">
                <a16:creationId xmlns:a16="http://schemas.microsoft.com/office/drawing/2014/main" id="{309514C3-97E0-482F-983E-243E6D4A8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28BB1E85-2D6E-412F-AB17-5D5014AA25C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Left column">
            <a:extLst xmlns:a="http://schemas.openxmlformats.org/drawingml/2006/main">
              <a:ext uri="{FF2B5EF4-FFF2-40B4-BE49-F238E27FC236}">
                <a16:creationId xmlns:a16="http://schemas.microsoft.com/office/drawing/2014/main" id="{9EC3DD7F-3E95-4CF4-A480-80844D00CBC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4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6A006163-1213-4B60-9C9B-36E5376D9016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Accent rule">
            <a:extLst xmlns:a="http://schemas.openxmlformats.org/drawingml/2006/main">
              <a:ext uri="{FF2B5EF4-FFF2-40B4-BE49-F238E27FC236}">
                <a16:creationId xmlns:a16="http://schemas.microsoft.com/office/drawing/2014/main" id="{AB17B5D1-0D79-4601-956F-58239CB2D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EBA8EA61-3D40-445D-9806-CEA3EEE7A74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Left column">
            <a:extLst xmlns:a="http://schemas.openxmlformats.org/drawingml/2006/main">
              <a:ext uri="{FF2B5EF4-FFF2-40B4-BE49-F238E27FC236}">
                <a16:creationId xmlns:a16="http://schemas.microsoft.com/office/drawing/2014/main" id="{3DA9DF10-8A30-45AB-8DE5-510C9A84FE7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d733c440f564834" /><Relationship Type="http://schemas.openxmlformats.org/officeDocument/2006/relationships/slideLayout" Target="/ppt/slideLayouts/slideLayout1.xml" Id="Rb79db35ac392493c" /><Relationship Type="http://schemas.openxmlformats.org/officeDocument/2006/relationships/slideLayout" Target="/ppt/slideLayouts/slideLayout2.xml" Id="R730eebb322db4c19" /><Relationship Type="http://schemas.openxmlformats.org/officeDocument/2006/relationships/slideLayout" Target="/ppt/slideLayouts/slideLayout3.xml" Id="Re9c5df800979484c" /><Relationship Type="http://schemas.openxmlformats.org/officeDocument/2006/relationships/slideLayout" Target="/ppt/slideLayouts/slideLayout4.xml" Id="R9472b411c5024baa" /><Relationship Type="http://schemas.openxmlformats.org/officeDocument/2006/relationships/slideLayout" Target="/ppt/slideLayouts/slideLayout5.xml" Id="R217d54182cbc4511" /><Relationship Type="http://schemas.openxmlformats.org/officeDocument/2006/relationships/slideLayout" Target="/ppt/slideLayouts/slideLayout6.xml" Id="Rb63c3356fd3840c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79db35ac392493c"/>
    <p:sldLayoutId xmlns:r="http://schemas.openxmlformats.org/officeDocument/2006/relationships" id="2147483650" r:id="R730eebb322db4c19"/>
    <p:sldLayoutId xmlns:r="http://schemas.openxmlformats.org/officeDocument/2006/relationships" id="2147483651" r:id="Re9c5df800979484c"/>
    <p:sldLayoutId xmlns:r="http://schemas.openxmlformats.org/officeDocument/2006/relationships" id="2147483652" r:id="R9472b411c5024baa"/>
    <p:sldLayoutId xmlns:r="http://schemas.openxmlformats.org/officeDocument/2006/relationships" id="2147483653" r:id="R217d54182cbc4511"/>
    <p:sldLayoutId xmlns:r="http://schemas.openxmlformats.org/officeDocument/2006/relationships" id="2147483654" r:id="Rb63c3356fd3840c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bcd21db18444d14" /><Relationship Type="http://schemas.openxmlformats.org/officeDocument/2006/relationships/notesSlide" Target="/ppt/notesSlides/notesSlide1.xml" Id="Rc21ce94e970c479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496fbec32cf4a45" /><Relationship Type="http://schemas.openxmlformats.org/officeDocument/2006/relationships/notesSlide" Target="/ppt/notesSlides/notesSlide2.xml" Id="Rb95cf9c2729c4ba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c6e66fb3e804f58" /><Relationship Type="http://schemas.openxmlformats.org/officeDocument/2006/relationships/notesSlide" Target="/ppt/notesSlides/notesSlide3.xml" Id="Radee821179eb4aa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1a6d4735ecc44b4" /><Relationship Type="http://schemas.openxmlformats.org/officeDocument/2006/relationships/notesSlide" Target="/ppt/notesSlides/notesSlide4.xml" Id="R9c8d42e33db34df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a0147dd31b344c5" /><Relationship Type="http://schemas.openxmlformats.org/officeDocument/2006/relationships/notesSlide" Target="/ppt/notesSlides/notesSlide5.xml" Id="Rec8c93d8f1dd4b5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ae0260c14004305" /><Relationship Type="http://schemas.openxmlformats.org/officeDocument/2006/relationships/chart" Target="/ppt/slides/charts/chart1.xml" Id="R4ee9f8ff1d7b4b55" /><Relationship Type="http://schemas.openxmlformats.org/officeDocument/2006/relationships/notesSlide" Target="/ppt/notesSlides/notesSlide6.xml" Id="R661e6f91f8dd45c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f46ab0d9a5943e8" /><Relationship Type="http://schemas.openxmlformats.org/officeDocument/2006/relationships/chart" Target="/ppt/slides/charts/chart2.xml" Id="Rab1ac1f06bad4332" /><Relationship Type="http://schemas.openxmlformats.org/officeDocument/2006/relationships/notesSlide" Target="/ppt/notesSlides/notesSlide7.xml" Id="Rc2b309758d8d44f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03246c94608421b" /><Relationship Type="http://schemas.openxmlformats.org/officeDocument/2006/relationships/chart" Target="/ppt/slides/charts/chart3.xml" Id="R1f3e5369b1c04c8a" /><Relationship Type="http://schemas.openxmlformats.org/officeDocument/2006/relationships/notesSlide" Target="/ppt/notesSlides/notesSlide8.xml" Id="R1998fb9302864d14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8ae0363ab3c4a4a" /><Relationship Type="http://schemas.openxmlformats.org/officeDocument/2006/relationships/chart" Target="/ppt/slides/charts/chart4.xml" Id="Rfe073a7c77cd4d0d" /><Relationship Type="http://schemas.openxmlformats.org/officeDocument/2006/relationships/notesSlide" Target="/ppt/notesSlides/notesSlide9.xml" Id="R6510a40512f8435c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bd16666d967413a" /><Relationship Type="http://schemas.openxmlformats.org/officeDocument/2006/relationships/chart" Target="/ppt/slides/charts/chart5.xml" Id="R86aab616553748c3" /><Relationship Type="http://schemas.openxmlformats.org/officeDocument/2006/relationships/notesSlide" Target="/ppt/notesSlides/notesSlide10.xml" Id="R0abbd66fa1e548f8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2d5621b0bd34d3b" /><Relationship Type="http://schemas.openxmlformats.org/officeDocument/2006/relationships/notesSlide" Target="/ppt/notesSlides/notesSlide11.xml" Id="Ra6c7b0a672f64113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260c3ee84214e58" /><Relationship Type="http://schemas.openxmlformats.org/officeDocument/2006/relationships/notesSlide" Target="/ppt/notesSlides/notesSlide12.xml" Id="R373b20eb59ef41bf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_rels/chart3.xml.rels><Relationships xmlns="http://schemas.openxmlformats.org/package/2006/relationships"><Relationship Id="rIdChartSnapshot1" Type="http://schemas.openxmlformats.org/officeDocument/2006/relationships/package" Target="../../embeddings/chart-data-snapshot-003.xlsx"/></Relationships>
</file>

<file path=ppt/slides/charts/_rels/chart4.xml.rels><Relationships xmlns="http://schemas.openxmlformats.org/package/2006/relationships"><Relationship Id="rIdChartSnapshot1" Type="http://schemas.openxmlformats.org/officeDocument/2006/relationships/package" Target="../../embeddings/chart-data-snapshot-004.xlsx"/></Relationships>
</file>

<file path=ppt/slides/charts/_rels/chart5.xml.rels><Relationships xmlns="http://schemas.openxmlformats.org/package/2006/relationships"><Relationship Id="rIdChartSnapshot1" Type="http://schemas.openxmlformats.org/officeDocument/2006/relationships/package" Target="../../embeddings/chart-data-snapshot-005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C0: базовая корзина</c:v>
          </c:tx>
          <c:spPr>
            <a:solidFill xmlns:a="http://schemas.openxmlformats.org/drawingml/2006/main">
              <a:srgbClr val="178579"/>
            </a:solidFill>
          </c:spPr>
          <c:cat>
            <c:strRef>
              <c:f>'Chart Data'!$A$2:$A$4</c:f>
              <c:strCache>
                <c:ptCount val="3"/>
                <c:pt idx="0">
                  <c:v>Продовольствие</c:v>
                </c:pt>
                <c:pt idx="1">
                  <c:v>Маркетплейсы</c:v>
                </c:pt>
                <c:pt idx="2">
                  <c:v>Общепит</c:v>
                </c:pt>
              </c:strCache>
            </c:strRef>
          </c:cat>
          <c:val>
            <c:numRef>
              <c:f>'Chart Data'!$B$2:$B$4</c:f>
              <c:numCache>
                <c:formatCode>0.0</c:formatCode>
                <c:ptCount val="3"/>
                <c:pt idx="0">
                  <c:v>44.8</c:v>
                </c:pt>
                <c:pt idx="1">
                  <c:v>21.2</c:v>
                </c:pt>
                <c:pt idx="2">
                  <c:v>1.3</c:v>
                </c:pt>
              </c:numCache>
            </c:numRef>
          </c:val>
        </c:ser>
        <c:ser>
          <c:idx val="1"/>
          <c:order val="1"/>
          <c:tx>
            <c:v>C1: смешанный</c:v>
          </c:tx>
          <c:spPr>
            <a:solidFill xmlns:a="http://schemas.openxmlformats.org/drawingml/2006/main">
              <a:srgbClr val="5664BD"/>
            </a:solidFill>
          </c:spPr>
          <c:cat>
            <c:strRef>
              <c:f>'Chart Data'!$C$2:$C$4</c:f>
              <c:strCache>
                <c:ptCount val="3"/>
                <c:pt idx="0">
                  <c:v>Продовольствие</c:v>
                </c:pt>
                <c:pt idx="1">
                  <c:v>Маркетплейсы</c:v>
                </c:pt>
                <c:pt idx="2">
                  <c:v>Общепит</c:v>
                </c:pt>
              </c:strCache>
            </c:strRef>
          </c:cat>
          <c:val>
            <c:numRef>
              <c:f>'Chart Data'!$D$2:$D$4</c:f>
              <c:numCache>
                <c:formatCode>0.0</c:formatCode>
                <c:ptCount val="3"/>
                <c:pt idx="0">
                  <c:v>40.1</c:v>
                </c:pt>
                <c:pt idx="1">
                  <c:v>17.4</c:v>
                </c:pt>
                <c:pt idx="2">
                  <c:v>3.3</c:v>
                </c:pt>
              </c:numCache>
            </c:numRef>
          </c:val>
        </c:ser>
        <c:ser>
          <c:idx val="2"/>
          <c:order val="2"/>
          <c:tx>
            <c:v>C2: расходы и услуги</c:v>
          </c:tx>
          <c:spPr>
            <a:solidFill xmlns:a="http://schemas.openxmlformats.org/drawingml/2006/main">
              <a:srgbClr val="BF6B25"/>
            </a:solidFill>
          </c:spPr>
          <c:cat>
            <c:strRef>
              <c:f>'Chart Data'!$E$2:$E$4</c:f>
              <c:strCache>
                <c:ptCount val="3"/>
                <c:pt idx="0">
                  <c:v>Продовольствие</c:v>
                </c:pt>
                <c:pt idx="1">
                  <c:v>Маркетплейсы</c:v>
                </c:pt>
                <c:pt idx="2">
                  <c:v>Общепит</c:v>
                </c:pt>
              </c:strCache>
            </c:strRef>
          </c:cat>
          <c:val>
            <c:numRef>
              <c:f>'Chart Data'!$F$2:$F$4</c:f>
              <c:numCache>
                <c:formatCode>0.0</c:formatCode>
                <c:ptCount val="3"/>
                <c:pt idx="0">
                  <c:v>32.1</c:v>
                </c:pt>
                <c:pt idx="1">
                  <c:v>16.1</c:v>
                </c:pt>
                <c:pt idx="2">
                  <c:v>6.5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350">
                  <a:solidFill>
                    <a:srgbClr val="163641"/>
                  </a:solidFill>
                  <a:latin typeface="DejaVu Sans"/>
                  <a:ea typeface="DejaVu Sans"/>
                  <a:cs typeface="DejaVu Sans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9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BCCDD1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63641"/>
                </a:solidFill>
                <a:latin typeface="DejaVu Sans"/>
                <a:ea typeface="DejaVu Sans"/>
                <a:cs typeface="DejaVu Sans"/>
              </a:defRPr>
            </a:pPr>
          </a:p>
        </c:txPr>
        <c:crossAx val="48672768"/>
      </c:catAx>
      <c:valAx>
        <c:axId val="48672768"/>
        <c:scaling>
          <c:orientation val="minMax"/>
          <c:max val="5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5ECEE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DejaVu Sans"/>
                    <a:ea typeface="DejaVu Sans"/>
                    <a:cs typeface="DejaVu Sans"/>
                  </a:rPr>
                  <a:t>Доля расходов, %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DejaVu Sans"/>
                  <a:ea typeface="DejaVu Sans"/>
                  <a:cs typeface="DejaVu Sans"/>
                </a:defRPr>
              </a:pPr>
            </a:p>
          </c:txPr>
        </c:title>
        <c:numFmt formatCode="0.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63641"/>
                </a:solidFill>
                <a:latin typeface="DejaVu Sans"/>
                <a:ea typeface="DejaVu Sans"/>
                <a:cs typeface="DejaVu Sans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425">
              <a:solidFill>
                <a:srgbClr val="163641"/>
              </a:solidFill>
              <a:latin typeface="DejaVu Sans"/>
              <a:ea typeface="DejaVu Sans"/>
              <a:cs typeface="DejaVu Sans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</c:spPr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plotArea>
      <c:lineChart>
        <c:grouping val="standard"/>
        <c:varyColors val="0"/>
        <c:ser>
          <c:idx val="0"/>
          <c:order val="0"/>
          <c:tx>
            <c:v>C0</c:v>
          </c:tx>
          <c:spPr>
            <a:ln xmlns:a="http://schemas.openxmlformats.org/drawingml/2006/main" w="28575">
              <a:solidFill>
                <a:srgbClr val="178579"/>
              </a:solidFill>
            </a:ln>
          </c:spPr>
          <c:marker>
            <c:symbol val="circle"/>
            <c:size val="6"/>
          </c:marker>
          <c:cat>
            <c:strRef>
              <c:f>'Chart Data'!$A$2:$A$13</c:f>
              <c:strCache>
                <c:ptCount val="12"/>
                <c:pt idx="0">
                  <c:v>Янв</c:v>
                </c:pt>
                <c:pt idx="1">
                  <c:v>Фев</c:v>
                </c:pt>
                <c:pt idx="2">
                  <c:v>Мар</c:v>
                </c:pt>
                <c:pt idx="3">
                  <c:v>Апр</c:v>
                </c:pt>
                <c:pt idx="4">
                  <c:v>Май</c:v>
                </c:pt>
                <c:pt idx="5">
                  <c:v>Июн</c:v>
                </c:pt>
                <c:pt idx="6">
                  <c:v>Июл</c:v>
                </c:pt>
                <c:pt idx="7">
                  <c:v>Авг</c:v>
                </c:pt>
                <c:pt idx="8">
                  <c:v>Сен</c:v>
                </c:pt>
                <c:pt idx="9">
                  <c:v>Окт</c:v>
                </c:pt>
                <c:pt idx="10">
                  <c:v>Ноя</c:v>
                </c:pt>
                <c:pt idx="11">
                  <c:v>Дек</c:v>
                </c:pt>
              </c:strCache>
            </c:strRef>
          </c:cat>
          <c:val>
            <c:numRef>
              <c:f>'Chart Data'!$B$2:$B$13</c:f>
              <c:numCache>
                <c:formatCode>0</c:formatCode>
                <c:ptCount val="12"/>
                <c:pt idx="0">
                  <c:v>1259</c:v>
                </c:pt>
                <c:pt idx="1">
                  <c:v>1256</c:v>
                </c:pt>
                <c:pt idx="2">
                  <c:v>1211</c:v>
                </c:pt>
                <c:pt idx="3">
                  <c:v>1125</c:v>
                </c:pt>
                <c:pt idx="4">
                  <c:v>1265</c:v>
                </c:pt>
                <c:pt idx="5">
                  <c:v>1259</c:v>
                </c:pt>
                <c:pt idx="6">
                  <c:v>1207</c:v>
                </c:pt>
                <c:pt idx="7">
                  <c:v>1242</c:v>
                </c:pt>
                <c:pt idx="8">
                  <c:v>703</c:v>
                </c:pt>
                <c:pt idx="9">
                  <c:v>1262</c:v>
                </c:pt>
                <c:pt idx="10">
                  <c:v>1277</c:v>
                </c:pt>
                <c:pt idx="11">
                  <c:v>1098</c:v>
                </c:pt>
              </c:numCache>
            </c:numRef>
          </c:val>
          <c:smooth val="0"/>
        </c:ser>
        <c:ser>
          <c:idx val="1"/>
          <c:order val="1"/>
          <c:tx>
            <c:v>C1</c:v>
          </c:tx>
          <c:spPr>
            <a:ln xmlns:a="http://schemas.openxmlformats.org/drawingml/2006/main" w="28575">
              <a:solidFill>
                <a:srgbClr val="5664BD"/>
              </a:solidFill>
            </a:ln>
          </c:spPr>
          <c:marker>
            <c:symbol val="circle"/>
            <c:size val="6"/>
          </c:marker>
          <c:cat>
            <c:strRef>
              <c:f>'Chart Data'!$C$2:$C$13</c:f>
              <c:strCache>
                <c:ptCount val="12"/>
                <c:pt idx="0">
                  <c:v>Янв</c:v>
                </c:pt>
                <c:pt idx="1">
                  <c:v>Фев</c:v>
                </c:pt>
                <c:pt idx="2">
                  <c:v>Мар</c:v>
                </c:pt>
                <c:pt idx="3">
                  <c:v>Апр</c:v>
                </c:pt>
                <c:pt idx="4">
                  <c:v>Май</c:v>
                </c:pt>
                <c:pt idx="5">
                  <c:v>Июн</c:v>
                </c:pt>
                <c:pt idx="6">
                  <c:v>Июл</c:v>
                </c:pt>
                <c:pt idx="7">
                  <c:v>Авг</c:v>
                </c:pt>
                <c:pt idx="8">
                  <c:v>Сен</c:v>
                </c:pt>
                <c:pt idx="9">
                  <c:v>Окт</c:v>
                </c:pt>
                <c:pt idx="10">
                  <c:v>Ноя</c:v>
                </c:pt>
                <c:pt idx="11">
                  <c:v>Дек</c:v>
                </c:pt>
              </c:strCache>
            </c:strRef>
          </c:cat>
          <c:val>
            <c:numRef>
              <c:f>'Chart Data'!$D$2:$D$13</c:f>
              <c:numCache>
                <c:formatCode>0</c:formatCode>
                <c:ptCount val="12"/>
                <c:pt idx="0">
                  <c:v>452</c:v>
                </c:pt>
                <c:pt idx="1">
                  <c:v>446</c:v>
                </c:pt>
                <c:pt idx="2">
                  <c:v>499</c:v>
                </c:pt>
                <c:pt idx="3">
                  <c:v>597</c:v>
                </c:pt>
                <c:pt idx="4">
                  <c:v>453</c:v>
                </c:pt>
                <c:pt idx="5">
                  <c:v>456</c:v>
                </c:pt>
                <c:pt idx="6">
                  <c:v>506</c:v>
                </c:pt>
                <c:pt idx="7">
                  <c:v>465</c:v>
                </c:pt>
                <c:pt idx="8">
                  <c:v>1030</c:v>
                </c:pt>
                <c:pt idx="9">
                  <c:v>456</c:v>
                </c:pt>
                <c:pt idx="10">
                  <c:v>481</c:v>
                </c:pt>
                <c:pt idx="11">
                  <c:v>610</c:v>
                </c:pt>
              </c:numCache>
            </c:numRef>
          </c:val>
          <c:smooth val="0"/>
        </c:ser>
        <c:ser>
          <c:idx val="2"/>
          <c:order val="2"/>
          <c:tx>
            <c:v>C2</c:v>
          </c:tx>
          <c:spPr>
            <a:ln xmlns:a="http://schemas.openxmlformats.org/drawingml/2006/main" w="28575">
              <a:solidFill>
                <a:srgbClr val="BF6B25"/>
              </a:solidFill>
            </a:ln>
          </c:spPr>
          <c:marker>
            <c:symbol val="circle"/>
            <c:size val="6"/>
          </c:marker>
          <c:cat>
            <c:strRef>
              <c:f>'Chart Data'!$E$2:$E$13</c:f>
              <c:strCache>
                <c:ptCount val="12"/>
                <c:pt idx="0">
                  <c:v>Янв</c:v>
                </c:pt>
                <c:pt idx="1">
                  <c:v>Фев</c:v>
                </c:pt>
                <c:pt idx="2">
                  <c:v>Мар</c:v>
                </c:pt>
                <c:pt idx="3">
                  <c:v>Апр</c:v>
                </c:pt>
                <c:pt idx="4">
                  <c:v>Май</c:v>
                </c:pt>
                <c:pt idx="5">
                  <c:v>Июн</c:v>
                </c:pt>
                <c:pt idx="6">
                  <c:v>Июл</c:v>
                </c:pt>
                <c:pt idx="7">
                  <c:v>Авг</c:v>
                </c:pt>
                <c:pt idx="8">
                  <c:v>Сен</c:v>
                </c:pt>
                <c:pt idx="9">
                  <c:v>Окт</c:v>
                </c:pt>
                <c:pt idx="10">
                  <c:v>Ноя</c:v>
                </c:pt>
                <c:pt idx="11">
                  <c:v>Дек</c:v>
                </c:pt>
              </c:strCache>
            </c:strRef>
          </c:cat>
          <c:val>
            <c:numRef>
              <c:f>'Chart Data'!$F$2:$F$13</c:f>
              <c:numCache>
                <c:formatCode>0</c:formatCode>
                <c:ptCount val="12"/>
                <c:pt idx="0">
                  <c:v>305</c:v>
                </c:pt>
                <c:pt idx="1">
                  <c:v>314</c:v>
                </c:pt>
                <c:pt idx="2">
                  <c:v>306</c:v>
                </c:pt>
                <c:pt idx="3">
                  <c:v>294</c:v>
                </c:pt>
                <c:pt idx="4">
                  <c:v>298</c:v>
                </c:pt>
                <c:pt idx="5">
                  <c:v>301</c:v>
                </c:pt>
                <c:pt idx="6">
                  <c:v>303</c:v>
                </c:pt>
                <c:pt idx="7">
                  <c:v>309</c:v>
                </c:pt>
                <c:pt idx="8">
                  <c:v>283</c:v>
                </c:pt>
                <c:pt idx="9">
                  <c:v>298</c:v>
                </c:pt>
                <c:pt idx="10">
                  <c:v>258</c:v>
                </c:pt>
                <c:pt idx="11">
                  <c:v>308</c:v>
                </c:pt>
              </c:numCache>
            </c:numRef>
          </c: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350">
                  <a:solidFill>
                    <a:srgbClr val="163641"/>
                  </a:solidFill>
                  <a:latin typeface="DejaVu Sans"/>
                  <a:ea typeface="DejaVu Sans"/>
                  <a:cs typeface="DejaVu Sans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BCCDD1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63641"/>
                </a:solidFill>
                <a:latin typeface="DejaVu Sans"/>
                <a:ea typeface="DejaVu Sans"/>
                <a:cs typeface="DejaVu Sans"/>
              </a:defRPr>
            </a:pPr>
          </a:p>
        </c:txPr>
        <c:crossAx val="48672768"/>
      </c:catAx>
      <c:valAx>
        <c:axId val="48672768"/>
        <c:scaling>
          <c:orientation val="minMax"/>
          <c:max val="140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5ECEE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DejaVu Sans"/>
                    <a:ea typeface="DejaVu Sans"/>
                    <a:cs typeface="DejaVu Sans"/>
                  </a:rPr>
                  <a:t>Муниципалитетов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DejaVu Sans"/>
                  <a:ea typeface="DejaVu Sans"/>
                  <a:cs typeface="DejaVu Sans"/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63641"/>
                </a:solidFill>
                <a:latin typeface="DejaVu Sans"/>
                <a:ea typeface="DejaVu Sans"/>
                <a:cs typeface="DejaVu Sans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425">
              <a:solidFill>
                <a:srgbClr val="163641"/>
              </a:solidFill>
              <a:latin typeface="DejaVu Sans"/>
              <a:ea typeface="DejaVu Sans"/>
              <a:cs typeface="DejaVu Sans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</c:spPr>
  <c:externalData r:id="rIdChartSnapshot1">
    <c:autoUpdate val="0"/>
  </c:externalData>
</c:chartSpace>
</file>

<file path=ppt/slides/charts/chart3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Событий</c:v>
          </c:tx>
          <c:spPr>
            <a:solidFill xmlns:a="http://schemas.openxmlformats.org/drawingml/2006/main">
              <a:srgbClr val="178579"/>
            </a:solidFill>
          </c:spPr>
          <c:cat>
            <c:strRef>
              <c:f>'Chart Data'!$A$2:$A$5</c:f>
              <c:strCache>
                <c:ptCount val="4"/>
                <c:pt idx="0">
                  <c:v>Все смены</c:v>
                </c:pt>
                <c:pt idx="1">
                  <c:v>Сохранение группы</c:v>
                </c:pt>
                <c:pt idx="2">
                  <c:v>Поддержка ≥ 0,8</c:v>
                </c:pt>
                <c:pt idx="3">
                  <c:v>Сдвиг ≥ 0,5</c:v>
                </c:pt>
              </c:strCache>
            </c:strRef>
          </c:cat>
          <c:val>
            <c:numRef>
              <c:f>'Chart Data'!$B$2:$B$5</c:f>
              <c:numCache>
                <c:formatCode>0</c:formatCode>
                <c:ptCount val="4"/>
                <c:pt idx="0">
                  <c:v>2653</c:v>
                </c:pt>
                <c:pt idx="1">
                  <c:v>1337</c:v>
                </c:pt>
                <c:pt idx="2">
                  <c:v>205</c:v>
                </c:pt>
                <c:pt idx="3">
                  <c:v>49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350">
                  <a:solidFill>
                    <a:srgbClr val="163641"/>
                  </a:solidFill>
                  <a:latin typeface="DejaVu Sans"/>
                  <a:ea typeface="DejaVu Sans"/>
                  <a:cs typeface="DejaVu Sans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9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BCCDD1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63641"/>
                </a:solidFill>
                <a:latin typeface="DejaVu Sans"/>
                <a:ea typeface="DejaVu Sans"/>
                <a:cs typeface="DejaVu Sans"/>
              </a:defRPr>
            </a:pPr>
          </a:p>
        </c:txPr>
        <c:crossAx val="48672768"/>
      </c:catAx>
      <c:valAx>
        <c:axId val="48672768"/>
        <c:scaling>
          <c:orientation val="minMax"/>
          <c:max val="300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5ECEE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DejaVu Sans"/>
                    <a:ea typeface="DejaVu Sans"/>
                    <a:cs typeface="DejaVu Sans"/>
                  </a:rPr>
                  <a:t>Событий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DejaVu Sans"/>
                  <a:ea typeface="DejaVu Sans"/>
                  <a:cs typeface="DejaVu Sans"/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63641"/>
                </a:solidFill>
                <a:latin typeface="DejaVu Sans"/>
                <a:ea typeface="DejaVu Sans"/>
                <a:cs typeface="DejaVu Sans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</c:spPr>
    </c:plotArea>
    <c:plotVisOnly val="1"/>
  </c:chart>
  <c:spPr>
    <a:solidFill xmlns:a="http://schemas.openxmlformats.org/drawingml/2006/main">
      <a:srgbClr val="FFFFFF"/>
    </a:solidFill>
  </c:spPr>
  <c:externalData r:id="rIdChartSnapshot1">
    <c:autoUpdate val="0"/>
  </c:externalData>
</c:chartSpace>
</file>

<file path=ppt/slides/charts/chart4.xml><?xml version="1.0" encoding="utf-8"?>
<c:chartSpace xmlns:c="http://schemas.openxmlformats.org/drawingml/2006/chart" xmlns:r="http://schemas.openxmlformats.org/officeDocument/2006/relationships">
  <c:lang val="en-US"/>
  <c:chart>
    <c:plotArea>
      <c:lineChart>
        <c:grouping val="standard"/>
        <c:varyColors val="0"/>
        <c:ser>
          <c:idx val="0"/>
          <c:order val="0"/>
          <c:tx>
            <c:v>Маркетплейсы, %</c:v>
          </c:tx>
          <c:spPr>
            <a:ln xmlns:a="http://schemas.openxmlformats.org/drawingml/2006/main" w="28575">
              <a:solidFill>
                <a:srgbClr val="178579"/>
              </a:solidFill>
            </a:ln>
          </c:spPr>
          <c:marker>
            <c:symbol val="circle"/>
            <c:size val="6"/>
          </c:marker>
          <c:cat>
            <c:strRef>
              <c:f>'Chart Data'!$A$2:$A$13</c:f>
              <c:strCache>
                <c:ptCount val="12"/>
                <c:pt idx="0">
                  <c:v>Янв</c:v>
                </c:pt>
                <c:pt idx="1">
                  <c:v>Фев</c:v>
                </c:pt>
                <c:pt idx="2">
                  <c:v>Мар</c:v>
                </c:pt>
                <c:pt idx="3">
                  <c:v>Апр</c:v>
                </c:pt>
                <c:pt idx="4">
                  <c:v>Май</c:v>
                </c:pt>
                <c:pt idx="5">
                  <c:v>Июн</c:v>
                </c:pt>
                <c:pt idx="6">
                  <c:v>Июл</c:v>
                </c:pt>
                <c:pt idx="7">
                  <c:v>Авг</c:v>
                </c:pt>
                <c:pt idx="8">
                  <c:v>Сен</c:v>
                </c:pt>
                <c:pt idx="9">
                  <c:v>Окт</c:v>
                </c:pt>
                <c:pt idx="10">
                  <c:v>Ноя</c:v>
                </c:pt>
                <c:pt idx="11">
                  <c:v>Дек</c:v>
                </c:pt>
              </c:strCache>
            </c:strRef>
          </c:cat>
          <c:val>
            <c:numRef>
              <c:f>'Chart Data'!$B$2:$B$13</c:f>
              <c:numCache>
                <c:formatCode>0.0</c:formatCode>
                <c:ptCount val="12"/>
                <c:pt idx="0">
                  <c:v>17.7896</c:v>
                </c:pt>
                <c:pt idx="1">
                  <c:v>20.6741</c:v>
                </c:pt>
                <c:pt idx="2">
                  <c:v>21.8401</c:v>
                </c:pt>
                <c:pt idx="3">
                  <c:v>21.7058</c:v>
                </c:pt>
                <c:pt idx="4">
                  <c:v>22.0924</c:v>
                </c:pt>
                <c:pt idx="5">
                  <c:v>17.4739</c:v>
                </c:pt>
                <c:pt idx="6">
                  <c:v>20.8422</c:v>
                </c:pt>
                <c:pt idx="7">
                  <c:v>20.0566</c:v>
                </c:pt>
                <c:pt idx="8">
                  <c:v>27.8004</c:v>
                </c:pt>
                <c:pt idx="9">
                  <c:v>28.8147</c:v>
                </c:pt>
                <c:pt idx="10">
                  <c:v>38.2695</c:v>
                </c:pt>
                <c:pt idx="11">
                  <c:v>34.1453</c:v>
                </c:pt>
              </c:numCache>
            </c:numRef>
          </c: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350">
                  <a:solidFill>
                    <a:srgbClr val="163641"/>
                  </a:solidFill>
                  <a:latin typeface="DejaVu Sans"/>
                  <a:ea typeface="DejaVu Sans"/>
                  <a:cs typeface="DejaVu Sans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BCCDD1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63641"/>
                </a:solidFill>
                <a:latin typeface="DejaVu Sans"/>
                <a:ea typeface="DejaVu Sans"/>
                <a:cs typeface="DejaVu Sans"/>
              </a:defRPr>
            </a:pPr>
          </a:p>
        </c:txPr>
        <c:crossAx val="48672768"/>
      </c:catAx>
      <c:valAx>
        <c:axId val="48672768"/>
        <c:scaling>
          <c:orientation val="minMax"/>
          <c:max val="45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5ECEE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DejaVu Sans"/>
                    <a:ea typeface="DejaVu Sans"/>
                    <a:cs typeface="DejaVu Sans"/>
                  </a:rPr>
                  <a:t>Доля маркетплейсов, %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DejaVu Sans"/>
                  <a:ea typeface="DejaVu Sans"/>
                  <a:cs typeface="DejaVu Sans"/>
                </a:defRPr>
              </a:pPr>
            </a:p>
          </c:txPr>
        </c:title>
        <c:numFmt formatCode="0.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63641"/>
                </a:solidFill>
                <a:latin typeface="DejaVu Sans"/>
                <a:ea typeface="DejaVu Sans"/>
                <a:cs typeface="DejaVu Sans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</c:spPr>
    </c:plotArea>
    <c:plotVisOnly val="1"/>
  </c:chart>
  <c:spPr>
    <a:solidFill xmlns:a="http://schemas.openxmlformats.org/drawingml/2006/main">
      <a:srgbClr val="FFFFFF"/>
    </a:solidFill>
  </c:spPr>
  <c:externalData r:id="rIdChartSnapshot1">
    <c:autoUpdate val="0"/>
  </c:externalData>
</c:chartSpace>
</file>

<file path=ppt/slides/charts/chart5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Доля рёбер, %</c:v>
          </c:tx>
          <c:spPr>
            <a:solidFill xmlns:a="http://schemas.openxmlformats.org/drawingml/2006/main">
              <a:srgbClr val="178579"/>
            </a:solidFill>
          </c:spPr>
          <c:cat>
            <c:strRef>
              <c:f>'Chart Data'!$A$2:$A$7</c:f>
              <c:strCache>
                <c:ptCount val="6"/>
                <c:pt idx="0">
                  <c:v>0–250</c:v>
                </c:pt>
                <c:pt idx="1">
                  <c:v>250–500</c:v>
                </c:pt>
                <c:pt idx="2">
                  <c:v>500–1000</c:v>
                </c:pt>
                <c:pt idx="3">
                  <c:v>1000–2000</c:v>
                </c:pt>
                <c:pt idx="4">
                  <c:v>2000–4000</c:v>
                </c:pt>
                <c:pt idx="5">
                  <c:v>&gt;4000</c:v>
                </c:pt>
              </c:strCache>
            </c:strRef>
          </c:cat>
          <c:val>
            <c:numRef>
              <c:f>'Chart Data'!$B$2:$B$7</c:f>
              <c:numCache>
                <c:formatCode>0.0</c:formatCode>
                <c:ptCount val="6"/>
                <c:pt idx="0">
                  <c:v>16.021</c:v>
                </c:pt>
                <c:pt idx="1">
                  <c:v>11.0743</c:v>
                </c:pt>
                <c:pt idx="2">
                  <c:v>22.9591</c:v>
                </c:pt>
                <c:pt idx="3">
                  <c:v>21.61</c:v>
                </c:pt>
                <c:pt idx="4">
                  <c:v>19.0815</c:v>
                </c:pt>
                <c:pt idx="5">
                  <c:v>9.2541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350">
                  <a:solidFill>
                    <a:srgbClr val="163641"/>
                  </a:solidFill>
                  <a:latin typeface="DejaVu Sans"/>
                  <a:ea typeface="DejaVu Sans"/>
                  <a:cs typeface="DejaVu Sans"/>
                </a:defRPr>
              </a:pPr>
            </a:p>
          </c:txPr>
          <c:dLblPos val="outEnd"/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9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BCCDD1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63641"/>
                </a:solidFill>
                <a:latin typeface="DejaVu Sans"/>
                <a:ea typeface="DejaVu Sans"/>
                <a:cs typeface="DejaVu Sans"/>
              </a:defRPr>
            </a:pPr>
          </a:p>
        </c:txPr>
        <c:crossAx val="48672768"/>
      </c:catAx>
      <c:valAx>
        <c:axId val="48672768"/>
        <c:scaling>
          <c:orientation val="minMax"/>
          <c:max val="4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5ECEE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DejaVu Sans"/>
                    <a:ea typeface="DejaVu Sans"/>
                    <a:cs typeface="DejaVu Sans"/>
                  </a:rPr>
                  <a:t>Доля рёбер, %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DejaVu Sans"/>
                  <a:ea typeface="DejaVu Sans"/>
                  <a:cs typeface="DejaVu Sans"/>
                </a:defRPr>
              </a:pPr>
            </a:p>
          </c:txPr>
        </c:title>
        <c:numFmt formatCode="0.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63641"/>
                </a:solidFill>
                <a:latin typeface="DejaVu Sans"/>
                <a:ea typeface="DejaVu Sans"/>
                <a:cs typeface="DejaVu Sans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</c:spPr>
    </c:plotArea>
    <c:plotVisOnly val="1"/>
  </c:chart>
  <c:spPr>
    <a:solidFill xmlns:a="http://schemas.openxmlformats.org/drawingml/2006/main">
      <a:srgbClr val="FFFFFF"/>
    </a:solidFill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0796C1C-FB96-4CDB-BA3B-3004290FB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81000"/>
            <a:ext cx="109537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63641"/>
                </a:solidFill>
                <a:latin typeface="DejaVu Sans"/>
                <a:ea typeface="DejaVu Sans"/>
                <a:cs typeface="DejaVu Sans"/>
              </a:defRPr>
            </a:pPr>
            <a:r>
              <a:rPr sz="3150" b="1">
                <a:solidFill>
                  <a:srgbClr val="163641"/>
                </a:solidFill>
                <a:latin typeface="DejaVu Sans"/>
                <a:ea typeface="DejaVu Sans"/>
                <a:cs typeface="DejaVu Sans"/>
              </a:rPr>
              <a:t>Муниципальные</a:t>
            </a:r>
          </a:p>
          <a:p xmlns:a="http://schemas.openxmlformats.org/drawingml/2006/main">
            <a:pPr>
              <a:defRPr sz="3150" b="1">
                <a:solidFill>
                  <a:srgbClr val="163641"/>
                </a:solidFill>
                <a:latin typeface="DejaVu Sans"/>
                <a:ea typeface="DejaVu Sans"/>
                <a:cs typeface="DejaVu Sans"/>
              </a:defRPr>
            </a:pPr>
            <a:r>
              <a:rPr sz="3150" b="1">
                <a:solidFill>
                  <a:srgbClr val="163641"/>
                </a:solidFill>
                <a:latin typeface="DejaVu Sans"/>
                <a:ea typeface="DejaVu Sans"/>
                <a:cs typeface="DejaVu Sans"/>
              </a:rPr>
              <a:t>траектории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84BD77D-B651-4B07-B104-77714CCCB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571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70818A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70818A"/>
                </a:solidFill>
                <a:latin typeface="DejaVu Sans"/>
                <a:ea typeface="DejaVu Sans"/>
                <a:cs typeface="DejaVu Sans"/>
              </a:rPr>
              <a:t>01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3235E46-87D6-4F54-AFD3-62C10C84B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619375"/>
            <a:ext cx="10382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75" b="0">
                <a:solidFill>
                  <a:srgbClr val="178579"/>
                </a:solidFill>
                <a:latin typeface="DejaVu Sans"/>
                <a:ea typeface="DejaVu Sans"/>
                <a:cs typeface="DejaVu Sans"/>
              </a:defRPr>
            </a:pPr>
            <a:r>
              <a:rPr sz="2775" b="0">
                <a:solidFill>
                  <a:srgbClr val="178579"/>
                </a:solidFill>
                <a:latin typeface="DejaVu Sans"/>
                <a:ea typeface="DejaVu Sans"/>
                <a:cs typeface="DejaVu Sans"/>
              </a:rPr>
              <a:t>Динамическая сеть сходства потребления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AE45628-ADFD-48AA-9082-1DFE49ED0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000500"/>
            <a:ext cx="10382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63641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163641"/>
                </a:solidFill>
                <a:latin typeface="DejaVu Sans"/>
                <a:ea typeface="DejaVu Sans"/>
                <a:cs typeface="DejaVu Sans"/>
              </a:rPr>
              <a:t>2 016 муниципалитетов</a:t>
            </a:r>
          </a:p>
          <a:p xmlns:a="http://schemas.openxmlformats.org/drawingml/2006/main">
            <a:pPr>
              <a:defRPr sz="2250" b="0">
                <a:solidFill>
                  <a:srgbClr val="163641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163641"/>
                </a:solidFill>
                <a:latin typeface="DejaVu Sans"/>
                <a:ea typeface="DejaVu Sans"/>
                <a:cs typeface="DejaVu Sans"/>
              </a:rPr>
              <a:t>12 месячных сетей 2024 года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8210AF7-143D-47B5-BC91-6894D1BF9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067425"/>
            <a:ext cx="1009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57D87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657D87"/>
                </a:solidFill>
                <a:latin typeface="DejaVu Sans"/>
                <a:ea typeface="DejaVu Sans"/>
                <a:cs typeface="DejaVu Sans"/>
              </a:rPr>
              <a:t>Конкурс исследовательских проектов СберИндекса · Номинация «Кластеризация» · 2026</a:t>
            </a:r>
          </a:p>
        </p:txBody>
      </p:sp>
    </p:spTree>
    <p:extLst>
      <p:ext uri="{BB962C8B-B14F-4D97-AF65-F5344CB8AC3E}">
        <p14:creationId xmlns:p14="http://schemas.microsoft.com/office/powerpoint/2010/main" val="13745863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7AC5819-32F6-4008-809E-8649D6D0F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81000"/>
            <a:ext cx="109537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63641"/>
                </a:solidFill>
                <a:latin typeface="DejaVu Sans"/>
                <a:ea typeface="DejaVu Sans"/>
                <a:cs typeface="DejaVu Sans"/>
              </a:defRPr>
            </a:pPr>
            <a:r>
              <a:rPr sz="3150" b="1">
                <a:solidFill>
                  <a:srgbClr val="163641"/>
                </a:solidFill>
                <a:latin typeface="DejaVu Sans"/>
                <a:ea typeface="DejaVu Sans"/>
                <a:cs typeface="DejaVu Sans"/>
              </a:rPr>
              <a:t>Задача и данные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0CECCC6-E8E1-4BDD-AE27-B60B95989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571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70818A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70818A"/>
                </a:solidFill>
                <a:latin typeface="DejaVu Sans"/>
                <a:ea typeface="DejaVu Sans"/>
                <a:cs typeface="DejaVu Sans"/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BC726C4-686F-453C-BB5A-06090F145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476375"/>
            <a:ext cx="10287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163641"/>
                </a:solidFill>
                <a:latin typeface="DejaVu Sans"/>
                <a:ea typeface="DejaVu Sans"/>
                <a:cs typeface="DejaVu Sans"/>
              </a:defRPr>
            </a:pPr>
            <a:r>
              <a:rPr sz="2325" b="0">
                <a:solidFill>
                  <a:srgbClr val="163641"/>
                </a:solidFill>
                <a:latin typeface="DejaVu Sans"/>
                <a:ea typeface="DejaVu Sans"/>
                <a:cs typeface="DejaVu Sans"/>
              </a:rPr>
              <a:t>Сопоставление муниципалитетов по потреблению и отбор изменений профиля для подробного изучения.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D6FD523-2ED4-4FB7-ADC6-4A58B7654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000375"/>
            <a:ext cx="3143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750" b="1">
                <a:solidFill>
                  <a:srgbClr val="178579"/>
                </a:solidFill>
                <a:latin typeface="DejaVu Sans"/>
                <a:ea typeface="DejaVu Sans"/>
                <a:cs typeface="DejaVu Sans"/>
              </a:defRPr>
            </a:pPr>
            <a:r>
              <a:rPr sz="3750" b="1">
                <a:solidFill>
                  <a:srgbClr val="178579"/>
                </a:solidFill>
                <a:latin typeface="DejaVu Sans"/>
                <a:ea typeface="DejaVu Sans"/>
                <a:cs typeface="DejaVu Sans"/>
              </a:rPr>
              <a:t>2 190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8BDAF2F-46DC-4A75-94C3-92D639E77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762375"/>
            <a:ext cx="3143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63641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163641"/>
                </a:solidFill>
                <a:latin typeface="DejaVu Sans"/>
                <a:ea typeface="DejaVu Sans"/>
                <a:cs typeface="DejaVu Sans"/>
              </a:rPr>
              <a:t>территорий в исходных данных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F894533-0EDB-4073-96B7-DD2485066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3000375"/>
            <a:ext cx="3143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750" b="1">
                <a:solidFill>
                  <a:srgbClr val="178579"/>
                </a:solidFill>
                <a:latin typeface="DejaVu Sans"/>
                <a:ea typeface="DejaVu Sans"/>
                <a:cs typeface="DejaVu Sans"/>
              </a:defRPr>
            </a:pPr>
            <a:r>
              <a:rPr sz="3750" b="1">
                <a:solidFill>
                  <a:srgbClr val="178579"/>
                </a:solidFill>
                <a:latin typeface="DejaVu Sans"/>
                <a:ea typeface="DejaVu Sans"/>
                <a:cs typeface="DejaVu Sans"/>
              </a:rPr>
              <a:t>2 016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F43C7E2-E9B8-4222-B066-56D4CB7EA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3762375"/>
            <a:ext cx="3143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63641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163641"/>
                </a:solidFill>
                <a:latin typeface="DejaVu Sans"/>
                <a:ea typeface="DejaVu Sans"/>
                <a:cs typeface="DejaVu Sans"/>
              </a:rPr>
              <a:t>полных историй за 24 месяца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3977144-17A4-4DBC-8F11-EE4AE5E59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3000375"/>
            <a:ext cx="3143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750" b="1">
                <a:solidFill>
                  <a:srgbClr val="178579"/>
                </a:solidFill>
                <a:latin typeface="DejaVu Sans"/>
                <a:ea typeface="DejaVu Sans"/>
                <a:cs typeface="DejaVu Sans"/>
              </a:defRPr>
            </a:pPr>
            <a:r>
              <a:rPr sz="3750" b="1">
                <a:solidFill>
                  <a:srgbClr val="178579"/>
                </a:solidFill>
                <a:latin typeface="DejaVu Sans"/>
                <a:ea typeface="DejaVu Sans"/>
                <a:cs typeface="DejaVu Sans"/>
              </a:rPr>
              <a:t>174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CCBE321-BD88-4703-A2E1-6818F6FA7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3762375"/>
            <a:ext cx="3143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63641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163641"/>
                </a:solidFill>
                <a:latin typeface="DejaVu Sans"/>
                <a:ea typeface="DejaVu Sans"/>
                <a:cs typeface="DejaVu Sans"/>
              </a:rPr>
              <a:t>исключены без заполнения пропусков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BCB8C47-A6D3-40E1-890C-ED895C33D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067425"/>
            <a:ext cx="1009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57D87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657D87"/>
                </a:solidFill>
                <a:latin typeface="DejaVu Sans"/>
                <a:ea typeface="DejaVu Sans"/>
                <a:cs typeface="DejaVu Sans"/>
              </a:rPr>
              <a:t>Период с января 2023 по декабрь 2024. Расходы номинальные, вес муниципалитетов одинаковый.</a:t>
            </a:r>
          </a:p>
        </p:txBody>
      </p:sp>
    </p:spTree>
    <p:extLst>
      <p:ext uri="{BB962C8B-B14F-4D97-AF65-F5344CB8AC3E}">
        <p14:creationId xmlns:p14="http://schemas.microsoft.com/office/powerpoint/2010/main" val="88552626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F8E039C-8D4E-4CA6-B653-AB350D275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81000"/>
            <a:ext cx="109537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63641"/>
                </a:solidFill>
                <a:latin typeface="DejaVu Sans"/>
                <a:ea typeface="DejaVu Sans"/>
                <a:cs typeface="DejaVu Sans"/>
              </a:defRPr>
            </a:pPr>
            <a:r>
              <a:rPr sz="3150" b="1">
                <a:solidFill>
                  <a:srgbClr val="163641"/>
                </a:solidFill>
                <a:latin typeface="DejaVu Sans"/>
                <a:ea typeface="DejaVu Sans"/>
                <a:cs typeface="DejaVu Sans"/>
              </a:rPr>
              <a:t>Экономическая сеть каждого месяца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1FBC264-14B9-43C4-88EF-652E16A70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571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70818A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70818A"/>
                </a:solidFill>
                <a:latin typeface="DejaVu Sans"/>
                <a:ea typeface="DejaVu Sans"/>
                <a:cs typeface="DejaVu Sans"/>
              </a:rPr>
              <a:t>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A98F739-B4E5-4EDA-BE4D-05F0E8804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571625"/>
            <a:ext cx="4953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178579"/>
                </a:solidFill>
                <a:latin typeface="DejaVu Sans"/>
                <a:ea typeface="DejaVu Sans"/>
                <a:cs typeface="DejaVu Sans"/>
              </a:defRPr>
            </a:pPr>
            <a:r>
              <a:rPr sz="2475" b="1">
                <a:solidFill>
                  <a:srgbClr val="178579"/>
                </a:solidFill>
                <a:latin typeface="DejaVu Sans"/>
                <a:ea typeface="DejaVu Sans"/>
                <a:cs typeface="DejaVu Sans"/>
              </a:rPr>
              <a:t>13 признаков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9868E14-8614-4123-96C5-6ED5E77E8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333625"/>
            <a:ext cx="4953000" cy="1952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63641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163641"/>
                </a:solidFill>
                <a:latin typeface="DejaVu Sans"/>
                <a:ea typeface="DejaVu Sans"/>
                <a:cs typeface="DejaVu Sans"/>
              </a:rPr>
              <a:t>Шесть долей расходов</a:t>
            </a:r>
          </a:p>
          <a:p xmlns:a="http://schemas.openxmlformats.org/drawingml/2006/main">
            <a:pPr>
              <a:defRPr sz="1950" b="0">
                <a:solidFill>
                  <a:srgbClr val="163641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163641"/>
                </a:solidFill>
                <a:latin typeface="DejaVu Sans"/>
                <a:ea typeface="DejaVu Sans"/>
                <a:cs typeface="DejaVu Sans"/>
              </a:rPr>
              <a:t>Относительный уровень расходов</a:t>
            </a:r>
          </a:p>
          <a:p xmlns:a="http://schemas.openxmlformats.org/drawingml/2006/main">
            <a:pPr>
              <a:defRPr sz="1950" b="0">
                <a:solidFill>
                  <a:srgbClr val="163641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163641"/>
                </a:solidFill>
                <a:latin typeface="DejaVu Sans"/>
                <a:ea typeface="DejaVu Sans"/>
                <a:cs typeface="DejaVu Sans"/>
              </a:rPr>
              <a:t>Шесть относительных годовых темпов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304C175-0738-4A62-AC84-338F3E7B9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571625"/>
            <a:ext cx="4953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5664BD"/>
                </a:solidFill>
                <a:latin typeface="DejaVu Sans"/>
                <a:ea typeface="DejaVu Sans"/>
                <a:cs typeface="DejaVu Sans"/>
              </a:defRPr>
            </a:pPr>
            <a:r>
              <a:rPr sz="2475" b="1">
                <a:solidFill>
                  <a:srgbClr val="5664BD"/>
                </a:solidFill>
                <a:latin typeface="DejaVu Sans"/>
                <a:ea typeface="DejaVu Sans"/>
                <a:cs typeface="DejaVu Sans"/>
              </a:rPr>
              <a:t>40 ближайших соседей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7A8F67C-7C81-407B-9EAA-E67E6F84B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333625"/>
            <a:ext cx="4953000" cy="1952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63641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163641"/>
                </a:solidFill>
                <a:latin typeface="DejaVu Sans"/>
                <a:ea typeface="DejaVu Sans"/>
                <a:cs typeface="DejaVu Sans"/>
              </a:rPr>
              <a:t>Симметричный взвешенный граф</a:t>
            </a:r>
          </a:p>
          <a:p xmlns:a="http://schemas.openxmlformats.org/drawingml/2006/main">
            <a:pPr>
              <a:defRPr sz="1950" b="0">
                <a:solidFill>
                  <a:srgbClr val="163641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163641"/>
                </a:solidFill>
                <a:latin typeface="DejaVu Sans"/>
                <a:ea typeface="DejaVu Sans"/>
                <a:cs typeface="DejaVu Sans"/>
              </a:rPr>
              <a:t>Вес exp(−d / tau)</a:t>
            </a:r>
          </a:p>
          <a:p xmlns:a="http://schemas.openxmlformats.org/drawingml/2006/main">
            <a:pPr>
              <a:defRPr sz="1950" b="0">
                <a:solidFill>
                  <a:srgbClr val="163641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163641"/>
                </a:solidFill>
                <a:latin typeface="DejaVu Sans"/>
                <a:ea typeface="DejaVu Sans"/>
                <a:cs typeface="DejaVu Sans"/>
              </a:rPr>
              <a:t>Leiden, разрешение 0,4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238494D-11C9-481E-9768-E3BD59124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667250"/>
            <a:ext cx="10477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63641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163641"/>
                </a:solidFill>
                <a:latin typeface="DejaVu Sans"/>
                <a:ea typeface="DejaVu Sans"/>
                <a:cs typeface="DejaVu Sans"/>
              </a:rPr>
              <a:t>Профиль и динамика имеют одинаковый вес. Кластеризация выполнена отдельно для каждого месяца.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D46D46F-9054-45FC-A648-B3189525A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067425"/>
            <a:ext cx="1009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57D87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657D87"/>
                </a:solidFill>
                <a:latin typeface="DejaVu Sans"/>
                <a:ea typeface="DejaVu Sans"/>
                <a:cs typeface="DejaVu Sans"/>
              </a:rPr>
              <a:t>Нормировка оценена на январе, марте и июне. Исследование имеет ретроспективный характер.</a:t>
            </a:r>
          </a:p>
        </p:txBody>
      </p:sp>
    </p:spTree>
    <p:extLst>
      <p:ext uri="{BB962C8B-B14F-4D97-AF65-F5344CB8AC3E}">
        <p14:creationId xmlns:p14="http://schemas.microsoft.com/office/powerpoint/2010/main" val="86417462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F2F926C-4CF1-4A0F-8174-0837E9B16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81000"/>
            <a:ext cx="109537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63641"/>
                </a:solidFill>
                <a:latin typeface="DejaVu Sans"/>
                <a:ea typeface="DejaVu Sans"/>
                <a:cs typeface="DejaVu Sans"/>
              </a:defRPr>
            </a:pPr>
            <a:r>
              <a:rPr sz="3150" b="1">
                <a:solidFill>
                  <a:srgbClr val="163641"/>
                </a:solidFill>
                <a:latin typeface="DejaVu Sans"/>
                <a:ea typeface="DejaVu Sans"/>
                <a:cs typeface="DejaVu Sans"/>
              </a:rPr>
              <a:t>Сравнение 24 конфигураций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3CC9562-F5ED-4C92-89F3-76F102FBF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571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70818A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70818A"/>
                </a:solidFill>
                <a:latin typeface="DejaVu Sans"/>
                <a:ea typeface="DejaVu Sans"/>
                <a:cs typeface="DejaVu Sans"/>
              </a:rPr>
              <a:t>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6235EDB-E0F8-480F-9A39-ECC7A3582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571625"/>
            <a:ext cx="50482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63641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163641"/>
                </a:solidFill>
                <a:latin typeface="DejaVu Sans"/>
                <a:ea typeface="DejaVu Sans"/>
                <a:cs typeface="DejaVu Sans"/>
              </a:rPr>
              <a:t>18 вариантов Leiden</a:t>
            </a:r>
          </a:p>
          <a:p xmlns:a="http://schemas.openxmlformats.org/drawingml/2006/main">
            <a:pPr>
              <a:defRPr sz="2250" b="0">
                <a:solidFill>
                  <a:srgbClr val="163641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163641"/>
                </a:solidFill>
                <a:latin typeface="DejaVu Sans"/>
                <a:ea typeface="DejaVu Sans"/>
                <a:cs typeface="DejaVu Sans"/>
              </a:rPr>
              <a:t>K-means и Ward с 4, 6 и 8 группами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2559704-1305-4844-8918-679A9F825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571625"/>
            <a:ext cx="49530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63641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163641"/>
                </a:solidFill>
                <a:latin typeface="DejaVu Sans"/>
                <a:ea typeface="DejaVu Sans"/>
                <a:cs typeface="DejaVu Sans"/>
              </a:rPr>
              <a:t>Шесть индексов</a:t>
            </a:r>
          </a:p>
          <a:p xmlns:a="http://schemas.openxmlformats.org/drawingml/2006/main">
            <a:pPr>
              <a:defRPr sz="2250" b="0">
                <a:solidFill>
                  <a:srgbClr val="163641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163641"/>
                </a:solidFill>
                <a:latin typeface="DejaVu Sans"/>
                <a:ea typeface="DejaVu Sans"/>
                <a:cs typeface="DejaVu Sans"/>
              </a:rPr>
              <a:t>SW, CH, S_Dbw, AVI, AVU, MQ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061B258-46C1-4138-A64E-F6C18EBA6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571875"/>
            <a:ext cx="1066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78579"/>
                </a:solidFill>
                <a:latin typeface="DejaVu Sans"/>
                <a:ea typeface="DejaVu Sans"/>
                <a:cs typeface="DejaVu Sans"/>
              </a:defRPr>
            </a:pPr>
            <a:r>
              <a:rPr sz="2175" b="1">
                <a:solidFill>
                  <a:srgbClr val="178579"/>
                </a:solidFill>
                <a:latin typeface="DejaVu Sans"/>
                <a:ea typeface="DejaVu Sans"/>
                <a:cs typeface="DejaVu Sans"/>
              </a:rPr>
              <a:t>Единое пространство признаков и общий опорный граф k = 30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7B6F1F4-6308-4687-92F3-A9F826186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524375"/>
            <a:ext cx="105727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63641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163641"/>
                </a:solidFill>
                <a:latin typeface="DejaVu Sans"/>
                <a:ea typeface="DejaVu Sans"/>
                <a:cs typeface="DejaVu Sans"/>
              </a:rPr>
              <a:t>Настройка: январь, март, июнь</a:t>
            </a:r>
          </a:p>
          <a:p xmlns:a="http://schemas.openxmlformats.org/drawingml/2006/main">
            <a:pPr>
              <a:defRPr sz="1800" b="0">
                <a:solidFill>
                  <a:srgbClr val="163641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163641"/>
                </a:solidFill>
                <a:latin typeface="DejaVu Sans"/>
                <a:ea typeface="DejaVu Sans"/>
                <a:cs typeface="DejaVu Sans"/>
              </a:rPr>
              <a:t>Валидация: июль–сентябрь</a:t>
            </a:r>
          </a:p>
          <a:p xmlns:a="http://schemas.openxmlformats.org/drawingml/2006/main">
            <a:pPr>
              <a:defRPr sz="1800" b="0">
                <a:solidFill>
                  <a:srgbClr val="163641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163641"/>
                </a:solidFill>
                <a:latin typeface="DejaVu Sans"/>
                <a:ea typeface="DejaVu Sans"/>
                <a:cs typeface="DejaVu Sans"/>
              </a:rPr>
              <a:t>Заключительная проверка: октябрь–декабрь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8ECE4DF-A74E-42B7-8036-121C9A398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067425"/>
            <a:ext cx="1009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57D87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657D87"/>
                </a:solidFill>
                <a:latin typeface="DejaVu Sans"/>
                <a:ea typeface="DejaVu Sans"/>
                <a:cs typeface="DejaVu Sans"/>
              </a:rPr>
              <a:t>Оценка выбора: 40% атрибуты + 40% граф + 20% устойчивость. Минимум 20 территорий в группе.</a:t>
            </a:r>
          </a:p>
        </p:txBody>
      </p:sp>
    </p:spTree>
    <p:extLst>
      <p:ext uri="{BB962C8B-B14F-4D97-AF65-F5344CB8AC3E}">
        <p14:creationId xmlns:p14="http://schemas.microsoft.com/office/powerpoint/2010/main" val="572391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66BF122-401E-46D9-9758-42A016DAB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81000"/>
            <a:ext cx="109537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63641"/>
                </a:solidFill>
                <a:latin typeface="DejaVu Sans"/>
                <a:ea typeface="DejaVu Sans"/>
                <a:cs typeface="DejaVu Sans"/>
              </a:defRPr>
            </a:pPr>
            <a:r>
              <a:rPr sz="3150" b="1">
                <a:solidFill>
                  <a:srgbClr val="163641"/>
                </a:solidFill>
                <a:latin typeface="DejaVu Sans"/>
                <a:ea typeface="DejaVu Sans"/>
                <a:cs typeface="DejaVu Sans"/>
              </a:rPr>
              <a:t>Сопоставление качества моделей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262F689-17C9-4369-AA2D-49F63C179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571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70818A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70818A"/>
                </a:solidFill>
                <a:latin typeface="DejaVu Sans"/>
                <a:ea typeface="DejaVu Sans"/>
                <a:cs typeface="DejaVu Sans"/>
              </a:rPr>
              <a:t>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7B33D4B-B4DA-463F-8DF0-1F302BCDA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381125"/>
            <a:ext cx="1066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78579"/>
                </a:solidFill>
                <a:latin typeface="DejaVu Sans"/>
                <a:ea typeface="DejaVu Sans"/>
                <a:cs typeface="DejaVu Sans"/>
              </a:defRPr>
            </a:pPr>
            <a:r>
              <a:rPr sz="2175" b="1">
                <a:solidFill>
                  <a:srgbClr val="178579"/>
                </a:solidFill>
                <a:latin typeface="DejaVu Sans"/>
                <a:ea typeface="DejaVu Sans"/>
                <a:cs typeface="DejaVu Sans"/>
              </a:rPr>
              <a:t>Настройка: K-means(6) 0,784 · Leiden 0,724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619125" y="2238375"/>
          <a:ext xmlns:a="http://schemas.openxmlformats.org/drawingml/2006/main" cx="10858500" cy="2286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381250"/>
                <a:gridCol w="666750"/>
                <a:gridCol w="1238250"/>
                <a:gridCol w="1428750"/>
                <a:gridCol w="1333500"/>
                <a:gridCol w="1238250"/>
                <a:gridCol w="1238250"/>
                <a:gridCol w="1333500"/>
              </a:tblGrid>
              <a:tr h="571500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163641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Декабрь 2024</a:t>
                      </a:r>
                    </a:p>
                  </a:txBody>
                  <a:tcPr marL="91440" marR="91440" marT="45720" marB="45720">
                    <a:solidFill>
                      <a:srgbClr val="E2EF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163641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K</a:t>
                      </a:r>
                    </a:p>
                  </a:txBody>
                  <a:tcPr marL="91440" marR="91440" marT="45720" marB="45720">
                    <a:solidFill>
                      <a:srgbClr val="E2EF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163641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SW</a:t>
                      </a:r>
                    </a:p>
                  </a:txBody>
                  <a:tcPr marL="91440" marR="91440" marT="45720" marB="45720">
                    <a:solidFill>
                      <a:srgbClr val="E2EF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163641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CH</a:t>
                      </a:r>
                    </a:p>
                  </a:txBody>
                  <a:tcPr marL="91440" marR="91440" marT="45720" marB="45720">
                    <a:solidFill>
                      <a:srgbClr val="E2EF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163641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S_Dbw</a:t>
                      </a:r>
                    </a:p>
                  </a:txBody>
                  <a:tcPr marL="91440" marR="91440" marT="45720" marB="45720">
                    <a:solidFill>
                      <a:srgbClr val="E2EF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163641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AVI</a:t>
                      </a:r>
                    </a:p>
                  </a:txBody>
                  <a:tcPr marL="91440" marR="91440" marT="45720" marB="45720">
                    <a:solidFill>
                      <a:srgbClr val="E2EF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163641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AVU</a:t>
                      </a:r>
                    </a:p>
                  </a:txBody>
                  <a:tcPr marL="91440" marR="91440" marT="45720" marB="45720">
                    <a:solidFill>
                      <a:srgbClr val="E2EF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163641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MQ</a:t>
                      </a:r>
                    </a:p>
                  </a:txBody>
                  <a:tcPr marL="91440" marR="91440" marT="45720" marB="45720">
                    <a:solidFill>
                      <a:srgbClr val="E2EFED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63641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Leiden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63641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3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63641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0,149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63641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389,82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63641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0,928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63641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0,904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63641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0,667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63641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0,544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63641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K-means(6)</a:t>
                      </a:r>
                    </a:p>
                  </a:txBody>
                  <a:tcPr marL="91440" marR="91440" marT="45720" marB="45720"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63641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6</a:t>
                      </a:r>
                    </a:p>
                  </a:txBody>
                  <a:tcPr marL="91440" marR="91440" marT="45720" marB="45720"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63641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0,145</a:t>
                      </a:r>
                    </a:p>
                  </a:txBody>
                  <a:tcPr marL="91440" marR="91440" marT="45720" marB="45720"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63641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332,40</a:t>
                      </a:r>
                    </a:p>
                  </a:txBody>
                  <a:tcPr marL="91440" marR="91440" marT="45720" marB="45720"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63641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0,736</a:t>
                      </a:r>
                    </a:p>
                  </a:txBody>
                  <a:tcPr marL="91440" marR="91440" marT="45720" marB="45720"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63641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0,727</a:t>
                      </a:r>
                    </a:p>
                  </a:txBody>
                  <a:tcPr marL="91440" marR="91440" marT="45720" marB="45720"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63641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0,489</a:t>
                      </a:r>
                    </a:p>
                  </a:txBody>
                  <a:tcPr marL="91440" marR="91440" marT="45720" marB="45720"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63641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0,557</a:t>
                      </a:r>
                    </a:p>
                  </a:txBody>
                  <a:tcPr marL="91440" marR="91440" marT="45720" marB="45720">
                    <a:solidFill>
                      <a:srgbClr val="F4F7F8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63641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K-means(8)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63641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8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63641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0,143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63641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283,91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63641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0,679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63641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0,669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63641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0,446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63641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0,550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BB5F0DE-5910-46D1-8996-40235703B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953000"/>
            <a:ext cx="10477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63641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63641"/>
                </a:solidFill>
                <a:latin typeface="DejaVu Sans"/>
                <a:ea typeface="DejaVu Sans"/>
                <a:cs typeface="DejaVu Sans"/>
              </a:rPr>
              <a:t>Leiden выбран как лучшая допустимая графовая модель. Группы перекрываются: SW в октябре–декабре в среднем 0,120.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C9C97CF-AD45-458C-8B1C-9A9ADA8B9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067425"/>
            <a:ext cx="1009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57D87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657D87"/>
                </a:solidFill>
                <a:latin typeface="DejaVu Sans"/>
                <a:ea typeface="DejaVu Sans"/>
                <a:cs typeface="DejaVu Sans"/>
              </a:rPr>
              <a:t>Число групп влияет на метрики. Оценки всех конфигураций приведены в selection_summary.csv.</a:t>
            </a:r>
          </a:p>
        </p:txBody>
      </p:sp>
    </p:spTree>
    <p:extLst>
      <p:ext uri="{BB962C8B-B14F-4D97-AF65-F5344CB8AC3E}">
        <p14:creationId xmlns:p14="http://schemas.microsoft.com/office/powerpoint/2010/main" val="207733595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C893149-3607-4FBC-9063-CFB888620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81000"/>
            <a:ext cx="109537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63641"/>
                </a:solidFill>
                <a:latin typeface="DejaVu Sans"/>
                <a:ea typeface="DejaVu Sans"/>
                <a:cs typeface="DejaVu Sans"/>
              </a:defRPr>
            </a:pPr>
            <a:r>
              <a:rPr sz="3150" b="1">
                <a:solidFill>
                  <a:srgbClr val="163641"/>
                </a:solidFill>
                <a:latin typeface="DejaVu Sans"/>
                <a:ea typeface="DejaVu Sans"/>
                <a:cs typeface="DejaVu Sans"/>
              </a:rPr>
              <a:t>Три профиля потребления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1D6D9F0-F55B-4683-9100-8C9151798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571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70818A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70818A"/>
                </a:solidFill>
                <a:latin typeface="DejaVu Sans"/>
                <a:ea typeface="DejaVu Sans"/>
                <a:cs typeface="DejaVu Sans"/>
              </a:rPr>
              <a:t>06</a:t>
            </a:r>
          </a:p>
        </p:txBody>
      </p:sp>
      <p:graphicFrame>
        <p:nvGraphicFramePr>
          <p:cNvPr id="7" name="Chart"/>
          <p:cNvGraphicFramePr/>
          <p:nvPr/>
        </p:nvGraphicFramePr>
        <p:xfrm>
          <a:off xmlns:a="http://schemas.openxmlformats.org/drawingml/2006/main" x="619125" y="1666875"/>
          <a:ext xmlns:a="http://schemas.openxmlformats.org/drawingml/2006/main" cx="10858500" cy="3905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4ee9f8ff1d7b4b55"/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0D0579C-E717-413F-A4DF-D8758D307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067425"/>
            <a:ext cx="1009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57D87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657D87"/>
                </a:solidFill>
                <a:latin typeface="DejaVu Sans"/>
                <a:ea typeface="DejaVu Sans"/>
                <a:cs typeface="DejaVu Sans"/>
              </a:rPr>
              <a:t>Декабрь 2024. Медианы долей, %. Размеры C0/C1/C2: 1 098 / 610 / 308. Названия описательные.</a:t>
            </a:r>
          </a:p>
        </p:txBody>
      </p:sp>
    </p:spTree>
    <p:extLst>
      <p:ext uri="{BB962C8B-B14F-4D97-AF65-F5344CB8AC3E}">
        <p14:creationId xmlns:p14="http://schemas.microsoft.com/office/powerpoint/2010/main" val="63241286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30B6832-D5A5-4005-9D15-03B1C5194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81000"/>
            <a:ext cx="109537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63641"/>
                </a:solidFill>
                <a:latin typeface="DejaVu Sans"/>
                <a:ea typeface="DejaVu Sans"/>
                <a:cs typeface="DejaVu Sans"/>
              </a:defRPr>
            </a:pPr>
            <a:r>
              <a:rPr sz="3150" b="1">
                <a:solidFill>
                  <a:srgbClr val="163641"/>
                </a:solidFill>
                <a:latin typeface="DejaVu Sans"/>
                <a:ea typeface="DejaVu Sans"/>
                <a:cs typeface="DejaVu Sans"/>
              </a:rPr>
              <a:t>Сентябрь чувствителен к параметрам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3068E7B-D99D-4B3E-8853-9E922A526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571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70818A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70818A"/>
                </a:solidFill>
                <a:latin typeface="DejaVu Sans"/>
                <a:ea typeface="DejaVu Sans"/>
                <a:cs typeface="DejaVu Sans"/>
              </a:rPr>
              <a:t>07</a:t>
            </a:r>
          </a:p>
        </p:txBody>
      </p:sp>
      <p:graphicFrame>
        <p:nvGraphicFramePr>
          <p:cNvPr id="7" name="Chart"/>
          <p:cNvGraphicFramePr/>
          <p:nvPr/>
        </p:nvGraphicFramePr>
        <p:xfrm>
          <a:off xmlns:a="http://schemas.openxmlformats.org/drawingml/2006/main" x="619125" y="1619250"/>
          <a:ext xmlns:a="http://schemas.openxmlformats.org/drawingml/2006/main" cx="10858500" cy="3714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ab1ac1f06bad4332"/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72E8EE2-399B-4561-AA57-0529E186D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067425"/>
            <a:ext cx="1009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57D87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657D87"/>
                </a:solidFill>
                <a:latin typeface="DejaVu Sans"/>
                <a:ea typeface="DejaVu Sans"/>
                <a:cs typeface="DejaVu Sans"/>
              </a:rPr>
              <a:t>Число территорий по группам. Медианный ARI девяти вариантов в сентябре равен 0,361.</a:t>
            </a:r>
          </a:p>
        </p:txBody>
      </p:sp>
    </p:spTree>
    <p:extLst>
      <p:ext uri="{BB962C8B-B14F-4D97-AF65-F5344CB8AC3E}">
        <p14:creationId xmlns:p14="http://schemas.microsoft.com/office/powerpoint/2010/main" val="29960361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2B964BB-3E42-4BD9-B639-22D5A6F0B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81000"/>
            <a:ext cx="109537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63641"/>
                </a:solidFill>
                <a:latin typeface="DejaVu Sans"/>
                <a:ea typeface="DejaVu Sans"/>
                <a:cs typeface="DejaVu Sans"/>
              </a:defRPr>
            </a:pPr>
            <a:r>
              <a:rPr sz="3150" b="1">
                <a:solidFill>
                  <a:srgbClr val="163641"/>
                </a:solidFill>
                <a:latin typeface="DejaVu Sans"/>
                <a:ea typeface="DejaVu Sans"/>
                <a:cs typeface="DejaVu Sans"/>
              </a:rPr>
              <a:t>49 событий проходят локальный фильтр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2F27AA9-5FB3-40E2-923A-E3AAD3925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571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70818A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70818A"/>
                </a:solidFill>
                <a:latin typeface="DejaVu Sans"/>
                <a:ea typeface="DejaVu Sans"/>
                <a:cs typeface="DejaVu Sans"/>
              </a:rPr>
              <a:t>08</a:t>
            </a:r>
          </a:p>
        </p:txBody>
      </p:sp>
      <p:graphicFrame>
        <p:nvGraphicFramePr>
          <p:cNvPr id="8" name="Chart"/>
          <p:cNvGraphicFramePr/>
          <p:nvPr/>
        </p:nvGraphicFramePr>
        <p:xfrm>
          <a:off xmlns:a="http://schemas.openxmlformats.org/drawingml/2006/main" x="619125" y="1666875"/>
          <a:ext xmlns:a="http://schemas.openxmlformats.org/drawingml/2006/main" cx="10858500" cy="3524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1f3e5369b1c04c8a"/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A5E5DE3-1155-4F44-9839-40EF2A30A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334000"/>
            <a:ext cx="10763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63641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163641"/>
                </a:solidFill>
                <a:latin typeface="DejaVu Sans"/>
                <a:ea typeface="DejaVu Sans"/>
                <a:cs typeface="DejaVu Sans"/>
              </a:rPr>
              <a:t>Отобраны изменения в 40 территориях.</a:t>
            </a:r>
          </a:p>
          <a:p xmlns:a="http://schemas.openxmlformats.org/drawingml/2006/main">
            <a:pPr>
              <a:defRPr sz="1725" b="0">
                <a:solidFill>
                  <a:srgbClr val="163641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163641"/>
                </a:solidFill>
                <a:latin typeface="DejaVu Sans"/>
                <a:ea typeface="DejaVu Sans"/>
                <a:cs typeface="DejaVu Sans"/>
              </a:rPr>
              <a:t>На проверенной сетке порогов число событий составляет от 12 до 193.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29AB032-22DD-4561-AB9D-1CCF82A38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067425"/>
            <a:ext cx="1009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57D87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657D87"/>
                </a:solidFill>
                <a:latin typeface="DejaVu Sans"/>
                <a:ea typeface="DejaVu Sans"/>
                <a:cs typeface="DejaVu Sans"/>
              </a:rPr>
              <a:t>Сохранение новой группы в следующем месяце и поддержка на предыдущем, текущем и следующем срезах.</a:t>
            </a:r>
          </a:p>
        </p:txBody>
      </p:sp>
    </p:spTree>
    <p:extLst>
      <p:ext uri="{BB962C8B-B14F-4D97-AF65-F5344CB8AC3E}">
        <p14:creationId xmlns:p14="http://schemas.microsoft.com/office/powerpoint/2010/main" val="65400502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8F72D32-D026-4DB1-8437-3EAF996B1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81000"/>
            <a:ext cx="109537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63641"/>
                </a:solidFill>
                <a:latin typeface="DejaVu Sans"/>
                <a:ea typeface="DejaVu Sans"/>
                <a:cs typeface="DejaVu Sans"/>
              </a:defRPr>
            </a:pPr>
            <a:r>
              <a:rPr sz="3150" b="1">
                <a:solidFill>
                  <a:srgbClr val="163641"/>
                </a:solidFill>
                <a:latin typeface="DejaVu Sans"/>
                <a:ea typeface="DejaVu Sans"/>
                <a:cs typeface="DejaVu Sans"/>
              </a:rPr>
              <a:t>ID 191: смена профиля в июле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A657A00-61CC-4448-9A64-E233E0C48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571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70818A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70818A"/>
                </a:solidFill>
                <a:latin typeface="DejaVu Sans"/>
                <a:ea typeface="DejaVu Sans"/>
                <a:cs typeface="DejaVu Sans"/>
              </a:rPr>
              <a:t>09</a:t>
            </a:r>
          </a:p>
        </p:txBody>
      </p:sp>
      <p:graphicFrame>
        <p:nvGraphicFramePr>
          <p:cNvPr id="9" name="Chart"/>
          <p:cNvGraphicFramePr/>
          <p:nvPr/>
        </p:nvGraphicFramePr>
        <p:xfrm>
          <a:off xmlns:a="http://schemas.openxmlformats.org/drawingml/2006/main" x="619125" y="1714500"/>
          <a:ext xmlns:a="http://schemas.openxmlformats.org/drawingml/2006/main" cx="6953250" cy="3619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fe073a7c77cd4d0d"/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522DC52-EA1E-4566-BA32-71FD251C9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857375"/>
            <a:ext cx="3238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78579"/>
                </a:solidFill>
                <a:latin typeface="DejaVu Sans"/>
                <a:ea typeface="DejaVu Sans"/>
                <a:cs typeface="DejaVu Sans"/>
              </a:defRPr>
            </a:pPr>
            <a:r>
              <a:rPr sz="2850" b="1">
                <a:solidFill>
                  <a:srgbClr val="178579"/>
                </a:solidFill>
                <a:latin typeface="DejaVu Sans"/>
                <a:ea typeface="DejaVu Sans"/>
                <a:cs typeface="DejaVu Sans"/>
              </a:rPr>
              <a:t>C1 → C0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9BF8318-F2A6-4BA2-942E-81B7DC368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809875"/>
            <a:ext cx="33337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63641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63641"/>
                </a:solidFill>
                <a:latin typeface="DejaVu Sans"/>
                <a:ea typeface="DejaVu Sans"/>
                <a:cs typeface="DejaVu Sans"/>
              </a:rPr>
              <a:t>Поддержка: 8 из 9</a:t>
            </a:r>
          </a:p>
          <a:p xmlns:a="http://schemas.openxmlformats.org/drawingml/2006/main">
            <a:pPr>
              <a:defRPr sz="1875" b="0">
                <a:solidFill>
                  <a:srgbClr val="163641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63641"/>
                </a:solidFill>
                <a:latin typeface="DejaVu Sans"/>
                <a:ea typeface="DejaVu Sans"/>
                <a:cs typeface="DejaVu Sans"/>
              </a:rPr>
              <a:t>Сдвиг признаков: 1,584</a:t>
            </a:r>
          </a:p>
          <a:p xmlns:a="http://schemas.openxmlformats.org/drawingml/2006/main">
            <a:pPr>
              <a:defRPr sz="1875" b="0">
                <a:solidFill>
                  <a:srgbClr val="163641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63641"/>
                </a:solidFill>
                <a:latin typeface="DejaVu Sans"/>
                <a:ea typeface="DejaVu Sans"/>
                <a:cs typeface="DejaVu Sans"/>
              </a:rPr>
              <a:t>Доля маркетплейсов:</a:t>
            </a:r>
          </a:p>
          <a:p xmlns:a="http://schemas.openxmlformats.org/drawingml/2006/main">
            <a:pPr>
              <a:defRPr sz="1875" b="0">
                <a:solidFill>
                  <a:srgbClr val="163641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63641"/>
                </a:solidFill>
                <a:latin typeface="DejaVu Sans"/>
                <a:ea typeface="DejaVu Sans"/>
                <a:cs typeface="DejaVu Sans"/>
              </a:rPr>
              <a:t>+3,37 п.п. за месяц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0AF9AA9-9739-489A-B24B-120533DB6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067425"/>
            <a:ext cx="1009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57D87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657D87"/>
                </a:solidFill>
                <a:latin typeface="DejaVu Sans"/>
                <a:ea typeface="DejaVu Sans"/>
                <a:cs typeface="DejaVu Sans"/>
              </a:rPr>
              <a:t>Юстинский район, Калмыкия. Silhouette в июле: −0,116. Профиль находится в области перекрытия групп.</a:t>
            </a:r>
          </a:p>
        </p:txBody>
      </p:sp>
    </p:spTree>
    <p:extLst>
      <p:ext uri="{BB962C8B-B14F-4D97-AF65-F5344CB8AC3E}">
        <p14:creationId xmlns:p14="http://schemas.microsoft.com/office/powerpoint/2010/main" val="98369410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8E61EB5-C490-4FE0-95B0-9EC873D58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81000"/>
            <a:ext cx="109537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63641"/>
                </a:solidFill>
                <a:latin typeface="DejaVu Sans"/>
                <a:ea typeface="DejaVu Sans"/>
                <a:cs typeface="DejaVu Sans"/>
              </a:defRPr>
            </a:pPr>
            <a:r>
              <a:rPr sz="3150" b="1">
                <a:solidFill>
                  <a:srgbClr val="163641"/>
                </a:solidFill>
                <a:latin typeface="DejaVu Sans"/>
                <a:ea typeface="DejaVu Sans"/>
                <a:cs typeface="DejaVu Sans"/>
              </a:rPr>
              <a:t>Расстояния между близкими профилями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46F2352-8397-43E9-A411-9C104D0C0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571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70818A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70818A"/>
                </a:solidFill>
                <a:latin typeface="DejaVu Sans"/>
                <a:ea typeface="DejaVu Sans"/>
                <a:cs typeface="DejaVu Sans"/>
              </a:rPr>
              <a:t>10</a:t>
            </a:r>
          </a:p>
        </p:txBody>
      </p:sp>
      <p:graphicFrame>
        <p:nvGraphicFramePr>
          <p:cNvPr id="9" name="Chart"/>
          <p:cNvGraphicFramePr/>
          <p:nvPr/>
        </p:nvGraphicFramePr>
        <p:xfrm>
          <a:off xmlns:a="http://schemas.openxmlformats.org/drawingml/2006/main" x="619125" y="1952625"/>
          <a:ext xmlns:a="http://schemas.openxmlformats.org/drawingml/2006/main" cx="7334250" cy="33813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86aab616553748c3"/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C3ED990-463D-4445-B755-4A1B3F052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333625"/>
            <a:ext cx="2762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178579"/>
                </a:solidFill>
                <a:latin typeface="DejaVu Sans"/>
                <a:ea typeface="DejaVu Sans"/>
                <a:cs typeface="DejaVu Sans"/>
              </a:defRPr>
            </a:pPr>
            <a:r>
              <a:rPr sz="4050" b="1">
                <a:solidFill>
                  <a:srgbClr val="178579"/>
                </a:solidFill>
                <a:latin typeface="DejaVu Sans"/>
                <a:ea typeface="DejaVu Sans"/>
                <a:cs typeface="DejaVu Sans"/>
              </a:rPr>
              <a:t>49,94%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FB54AF2-EF2C-4E22-B838-36A1EDE08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333750"/>
            <a:ext cx="2714625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63641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63641"/>
                </a:solidFill>
                <a:latin typeface="DejaVu Sans"/>
                <a:ea typeface="DejaVu Sans"/>
                <a:cs typeface="DejaVu Sans"/>
              </a:rPr>
              <a:t>связей с известным расстоянием длиннее 1 000 км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5ADD41F-471D-4C7E-A819-2C8693B45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067425"/>
            <a:ext cx="1009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57D87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657D87"/>
                </a:solidFill>
                <a:latin typeface="DejaVu Sans"/>
                <a:ea typeface="DejaVu Sans"/>
                <a:cs typeface="DejaVu Sans"/>
              </a:rPr>
              <a:t>Декабрь 2024. Расстояние между муниципальными центрами, км. Связи отражают сходство потребления.</a:t>
            </a:r>
          </a:p>
        </p:txBody>
      </p:sp>
    </p:spTree>
    <p:extLst>
      <p:ext uri="{BB962C8B-B14F-4D97-AF65-F5344CB8AC3E}">
        <p14:creationId xmlns:p14="http://schemas.microsoft.com/office/powerpoint/2010/main" val="529612295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EDC24F6-C5DE-41AC-A15B-842085AE6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81000"/>
            <a:ext cx="109537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63641"/>
                </a:solidFill>
                <a:latin typeface="DejaVu Sans"/>
                <a:ea typeface="DejaVu Sans"/>
                <a:cs typeface="DejaVu Sans"/>
              </a:defRPr>
            </a:pPr>
            <a:r>
              <a:rPr sz="3150" b="1">
                <a:solidFill>
                  <a:srgbClr val="163641"/>
                </a:solidFill>
                <a:latin typeface="DejaVu Sans"/>
                <a:ea typeface="DejaVu Sans"/>
                <a:cs typeface="DejaVu Sans"/>
              </a:rPr>
              <a:t>Внешняя проверка и ограничения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48B2912-6103-4C61-BC23-8721170C2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571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70818A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70818A"/>
                </a:solidFill>
                <a:latin typeface="DejaVu Sans"/>
                <a:ea typeface="DejaVu Sans"/>
                <a:cs typeface="DejaVu Sans"/>
              </a:rPr>
              <a:t>11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6A8902B-70E1-442E-96AA-B7D4C45B4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666875"/>
            <a:ext cx="4953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178579"/>
                </a:solidFill>
                <a:latin typeface="DejaVu Sans"/>
                <a:ea typeface="DejaVu Sans"/>
                <a:cs typeface="DejaVu Sans"/>
              </a:defRPr>
            </a:pPr>
            <a:r>
              <a:rPr sz="2475" b="1">
                <a:solidFill>
                  <a:srgbClr val="178579"/>
                </a:solidFill>
                <a:latin typeface="DejaVu Sans"/>
                <a:ea typeface="DejaVu Sans"/>
                <a:cs typeface="DejaVu Sans"/>
              </a:rPr>
              <a:t>Доступность рынков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C93FA07-5F74-4509-A7FF-AE164BF37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619375"/>
            <a:ext cx="4953000" cy="2047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63641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163641"/>
                </a:solidFill>
                <a:latin typeface="DejaVu Sans"/>
                <a:ea typeface="DejaVu Sans"/>
                <a:cs typeface="DejaVu Sans"/>
              </a:rPr>
              <a:t>Внешний показатель.</a:t>
            </a:r>
          </a:p>
          <a:p xmlns:a="http://schemas.openxmlformats.org/drawingml/2006/main">
            <a:pPr>
              <a:defRPr sz="1950" b="0">
                <a:solidFill>
                  <a:srgbClr val="163641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163641"/>
                </a:solidFill>
                <a:latin typeface="DejaVu Sans"/>
                <a:ea typeface="DejaVu Sans"/>
                <a:cs typeface="DejaVu Sans"/>
              </a:rPr>
              <a:t>2 004 территории с данными.</a:t>
            </a:r>
          </a:p>
          <a:p xmlns:a="http://schemas.openxmlformats.org/drawingml/2006/main">
            <a:pPr>
              <a:defRPr sz="1950" b="0">
                <a:solidFill>
                  <a:srgbClr val="163641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163641"/>
                </a:solidFill>
                <a:latin typeface="DejaVu Sans"/>
                <a:ea typeface="DejaVu Sans"/>
                <a:cs typeface="DejaVu Sans"/>
              </a:rPr>
              <a:t>Доля объяснённой вариации</a:t>
            </a:r>
          </a:p>
          <a:p xmlns:a="http://schemas.openxmlformats.org/drawingml/2006/main">
            <a:pPr>
              <a:defRPr sz="1950" b="0">
                <a:solidFill>
                  <a:srgbClr val="163641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163641"/>
                </a:solidFill>
                <a:latin typeface="DejaVu Sans"/>
                <a:ea typeface="DejaVu Sans"/>
                <a:cs typeface="DejaVu Sans"/>
              </a:rPr>
              <a:t>log(1 + индекс): 31,9%.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0C8D7FF-5995-47A2-AD30-13CF9615E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1666875"/>
            <a:ext cx="4953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5664BD"/>
                </a:solidFill>
                <a:latin typeface="DejaVu Sans"/>
                <a:ea typeface="DejaVu Sans"/>
                <a:cs typeface="DejaVu Sans"/>
              </a:defRPr>
            </a:pPr>
            <a:r>
              <a:rPr sz="2475" b="1">
                <a:solidFill>
                  <a:srgbClr val="5664BD"/>
                </a:solidFill>
                <a:latin typeface="DejaVu Sans"/>
                <a:ea typeface="DejaVu Sans"/>
                <a:cs typeface="DejaVu Sans"/>
              </a:rPr>
              <a:t>Границы выводов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EB0EDCB-6058-4F38-80AF-513CC97D2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2619375"/>
            <a:ext cx="4762500" cy="2047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63641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163641"/>
                </a:solidFill>
                <a:latin typeface="DejaVu Sans"/>
                <a:ea typeface="DejaVu Sans"/>
                <a:cs typeface="DejaVu Sans"/>
              </a:rPr>
              <a:t>Профили перекрываются.</a:t>
            </a:r>
          </a:p>
          <a:p xmlns:a="http://schemas.openxmlformats.org/drawingml/2006/main">
            <a:pPr>
              <a:defRPr sz="1950" b="0">
                <a:solidFill>
                  <a:srgbClr val="163641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163641"/>
                </a:solidFill>
                <a:latin typeface="DejaVu Sans"/>
                <a:ea typeface="DejaVu Sans"/>
                <a:cs typeface="DejaVu Sans"/>
              </a:rPr>
              <a:t>Расходы номинальные.</a:t>
            </a:r>
          </a:p>
          <a:p xmlns:a="http://schemas.openxmlformats.org/drawingml/2006/main">
            <a:pPr>
              <a:defRPr sz="1950" b="0">
                <a:solidFill>
                  <a:srgbClr val="163641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163641"/>
                </a:solidFill>
                <a:latin typeface="DejaVu Sans"/>
                <a:ea typeface="DejaVu Sans"/>
                <a:cs typeface="DejaVu Sans"/>
              </a:rPr>
              <a:t>Вес территорий одинаковый.</a:t>
            </a:r>
          </a:p>
          <a:p xmlns:a="http://schemas.openxmlformats.org/drawingml/2006/main">
            <a:pPr>
              <a:defRPr sz="1950" b="0">
                <a:solidFill>
                  <a:srgbClr val="163641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163641"/>
                </a:solidFill>
                <a:latin typeface="DejaVu Sans"/>
                <a:ea typeface="DejaVu Sans"/>
                <a:cs typeface="DejaVu Sans"/>
              </a:rPr>
              <a:t>Причины изменений требуют</a:t>
            </a:r>
          </a:p>
          <a:p xmlns:a="http://schemas.openxmlformats.org/drawingml/2006/main">
            <a:pPr>
              <a:defRPr sz="1950" b="0">
                <a:solidFill>
                  <a:srgbClr val="163641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163641"/>
                </a:solidFill>
                <a:latin typeface="DejaVu Sans"/>
                <a:ea typeface="DejaVu Sans"/>
                <a:cs typeface="DejaVu Sans"/>
              </a:rPr>
              <a:t>внешних данных.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B1B10B1-2A27-4E21-BF20-6FB96F521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067425"/>
            <a:ext cx="1009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57D87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657D87"/>
                </a:solidFill>
                <a:latin typeface="DejaVu Sans"/>
                <a:ea typeface="DejaVu Sans"/>
                <a:cs typeface="DejaVu Sans"/>
              </a:rPr>
              <a:t>Сопоставление носит описательный характер. Связь групп с доступностью рынков немонотонна.</a:t>
            </a:r>
          </a:p>
        </p:txBody>
      </p:sp>
    </p:spTree>
    <p:extLst>
      <p:ext uri="{BB962C8B-B14F-4D97-AF65-F5344CB8AC3E}">
        <p14:creationId xmlns:p14="http://schemas.microsoft.com/office/powerpoint/2010/main" val="1996443046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A32340C-7A73-4190-9C3E-EE790BE16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81000"/>
            <a:ext cx="109537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63641"/>
                </a:solidFill>
                <a:latin typeface="DejaVu Sans"/>
                <a:ea typeface="DejaVu Sans"/>
                <a:cs typeface="DejaVu Sans"/>
              </a:defRPr>
            </a:pPr>
            <a:r>
              <a:rPr sz="3150" b="1">
                <a:solidFill>
                  <a:srgbClr val="163641"/>
                </a:solidFill>
                <a:latin typeface="DejaVu Sans"/>
                <a:ea typeface="DejaVu Sans"/>
                <a:cs typeface="DejaVu Sans"/>
              </a:rPr>
              <a:t>Материалы и воспроизводимость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25026A2-B1E2-4224-AB75-D265AB9DF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571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70818A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70818A"/>
                </a:solidFill>
                <a:latin typeface="DejaVu Sans"/>
                <a:ea typeface="DejaVu Sans"/>
                <a:cs typeface="DejaVu Sans"/>
              </a:rPr>
              <a:t>12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0E2E437-A98A-4A38-9759-5E1213A55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571625"/>
            <a:ext cx="10477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163641"/>
                </a:solidFill>
                <a:latin typeface="DejaVu Sans"/>
                <a:ea typeface="DejaVu Sans"/>
                <a:cs typeface="DejaVu Sans"/>
              </a:defRPr>
            </a:pPr>
            <a:r>
              <a:rPr sz="2325" b="0">
                <a:solidFill>
                  <a:srgbClr val="163641"/>
                </a:solidFill>
                <a:latin typeface="DejaVu Sans"/>
                <a:ea typeface="DejaVu Sans"/>
                <a:cs typeface="DejaVu Sans"/>
              </a:rPr>
              <a:t>Карточка территории объединяет структуру расходов, историю группы и пять близких профилей для сравнения.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863C3CD-B8D7-4134-AFBF-89C84707A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190875"/>
            <a:ext cx="1047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78579"/>
                </a:solidFill>
                <a:latin typeface="DejaVu Sans"/>
                <a:ea typeface="DejaVu Sans"/>
                <a:cs typeface="DejaVu Sans"/>
              </a:defRPr>
            </a:pPr>
            <a:r>
              <a:rPr sz="2550" b="1">
                <a:solidFill>
                  <a:srgbClr val="178579"/>
                </a:solidFill>
                <a:latin typeface="DejaVu Sans"/>
                <a:ea typeface="DejaVu Sans"/>
                <a:cs typeface="DejaVu Sans"/>
              </a:rPr>
              <a:t>Повторный расчёт в одной среде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4CAE881-0A19-49DA-BF36-FC24292AE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191000"/>
            <a:ext cx="10477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63641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63641"/>
                </a:solidFill>
                <a:latin typeface="DejaVu Sans"/>
                <a:ea typeface="DejaVu Sans"/>
                <a:cs typeface="DejaVu Sans"/>
              </a:rPr>
              <a:t>Исходные данные с лицензией, код и JSON-конфигурация.</a:t>
            </a:r>
          </a:p>
          <a:p xmlns:a="http://schemas.openxmlformats.org/drawingml/2006/main">
            <a:pPr>
              <a:defRPr sz="2025" b="0">
                <a:solidFill>
                  <a:srgbClr val="163641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63641"/>
                </a:solidFill>
                <a:latin typeface="DejaVu Sans"/>
                <a:ea typeface="DejaVu Sans"/>
                <a:cs typeface="DejaVu Sans"/>
              </a:rPr>
              <a:t>Все метрики и переходы доступны в CSV.</a:t>
            </a:r>
          </a:p>
          <a:p xmlns:a="http://schemas.openxmlformats.org/drawingml/2006/main">
            <a:pPr>
              <a:defRPr sz="2025" b="0">
                <a:solidFill>
                  <a:srgbClr val="163641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63641"/>
                </a:solidFill>
                <a:latin typeface="DejaVu Sans"/>
                <a:ea typeface="DejaVu Sans"/>
                <a:cs typeface="DejaVu Sans"/>
              </a:rPr>
              <a:t>Девять тестов и повторный запуск расчётов.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19F25B7-320E-4CE6-AFBF-50DF728D9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067425"/>
            <a:ext cx="1009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57D87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657D87"/>
                </a:solidFill>
                <a:latin typeface="DejaVu Sans"/>
                <a:ea typeface="DejaVu Sans"/>
                <a:cs typeface="DejaVu Sans"/>
              </a:rPr>
              <a:t>Применение: сравнительный анализ территорий и отбор событий для подробного изучения.</a:t>
            </a:r>
          </a:p>
        </p:txBody>
      </p:sp>
    </p:spTree>
    <p:extLst>
      <p:ext uri="{BB962C8B-B14F-4D97-AF65-F5344CB8AC3E}">
        <p14:creationId xmlns:p14="http://schemas.microsoft.com/office/powerpoint/2010/main" val="207534032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2026-10-06T21:29:29.6930000Z</dcterms:created>
  <dcterms:modified xsi:type="dcterms:W3CDTF">2026-10-06T21:29:29.6940000Z</dcterms:modified>
</coreProperties>
</file>